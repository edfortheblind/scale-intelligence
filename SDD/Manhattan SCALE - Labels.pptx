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5.xml" ContentType="application/vnd.openxmlformats-officedocument.presentationml.notesSlide+xml"/>
  <Override PartName="/ppt/ink/ink4.xml" ContentType="application/inkml+xml"/>
  <Override PartName="/ppt/ink/ink5.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5"/>
  </p:sldMasterIdLst>
  <p:notesMasterIdLst>
    <p:notesMasterId r:id="rId51"/>
  </p:notesMasterIdLst>
  <p:sldIdLst>
    <p:sldId id="256" r:id="rId6"/>
    <p:sldId id="318" r:id="rId7"/>
    <p:sldId id="259" r:id="rId8"/>
    <p:sldId id="321" r:id="rId9"/>
    <p:sldId id="322" r:id="rId10"/>
    <p:sldId id="323" r:id="rId11"/>
    <p:sldId id="285" r:id="rId12"/>
    <p:sldId id="287" r:id="rId13"/>
    <p:sldId id="298" r:id="rId14"/>
    <p:sldId id="296" r:id="rId15"/>
    <p:sldId id="297" r:id="rId16"/>
    <p:sldId id="299" r:id="rId17"/>
    <p:sldId id="295" r:id="rId18"/>
    <p:sldId id="333" r:id="rId19"/>
    <p:sldId id="335" r:id="rId20"/>
    <p:sldId id="336" r:id="rId21"/>
    <p:sldId id="330" r:id="rId22"/>
    <p:sldId id="331" r:id="rId23"/>
    <p:sldId id="332" r:id="rId24"/>
    <p:sldId id="284" r:id="rId25"/>
    <p:sldId id="262" r:id="rId26"/>
    <p:sldId id="286" r:id="rId27"/>
    <p:sldId id="312" r:id="rId28"/>
    <p:sldId id="313" r:id="rId29"/>
    <p:sldId id="277" r:id="rId30"/>
    <p:sldId id="302" r:id="rId31"/>
    <p:sldId id="303" r:id="rId32"/>
    <p:sldId id="300" r:id="rId33"/>
    <p:sldId id="304" r:id="rId34"/>
    <p:sldId id="301" r:id="rId35"/>
    <p:sldId id="305" r:id="rId36"/>
    <p:sldId id="268" r:id="rId37"/>
    <p:sldId id="293" r:id="rId38"/>
    <p:sldId id="306" r:id="rId39"/>
    <p:sldId id="308" r:id="rId40"/>
    <p:sldId id="307" r:id="rId41"/>
    <p:sldId id="309" r:id="rId42"/>
    <p:sldId id="311" r:id="rId43"/>
    <p:sldId id="310" r:id="rId44"/>
    <p:sldId id="294" r:id="rId45"/>
    <p:sldId id="314" r:id="rId46"/>
    <p:sldId id="315" r:id="rId47"/>
    <p:sldId id="316" r:id="rId48"/>
    <p:sldId id="276" r:id="rId49"/>
    <p:sldId id="266" r:id="rId50"/>
  </p:sldIdLst>
  <p:sldSz cx="9144000" cy="6858000" type="screen4x3"/>
  <p:notesSz cx="7315200" cy="9601200"/>
  <p:custDataLst>
    <p:tags r:id="rId52"/>
  </p:custDataLst>
  <p:defaultTextStyle>
    <a:defPPr>
      <a:defRPr lang="en-US"/>
    </a:defPPr>
    <a:lvl1pPr algn="ctr" rtl="0" fontAlgn="base">
      <a:spcBef>
        <a:spcPct val="50000"/>
      </a:spcBef>
      <a:spcAft>
        <a:spcPct val="0"/>
      </a:spcAft>
      <a:defRPr kern="1200">
        <a:solidFill>
          <a:schemeClr val="accent1"/>
        </a:solidFill>
        <a:latin typeface="Arial" charset="0"/>
        <a:ea typeface="+mn-ea"/>
        <a:cs typeface="+mn-cs"/>
      </a:defRPr>
    </a:lvl1pPr>
    <a:lvl2pPr marL="457200" algn="ctr" rtl="0" fontAlgn="base">
      <a:spcBef>
        <a:spcPct val="50000"/>
      </a:spcBef>
      <a:spcAft>
        <a:spcPct val="0"/>
      </a:spcAft>
      <a:defRPr kern="1200">
        <a:solidFill>
          <a:schemeClr val="accent1"/>
        </a:solidFill>
        <a:latin typeface="Arial" charset="0"/>
        <a:ea typeface="+mn-ea"/>
        <a:cs typeface="+mn-cs"/>
      </a:defRPr>
    </a:lvl2pPr>
    <a:lvl3pPr marL="914400" algn="ctr" rtl="0" fontAlgn="base">
      <a:spcBef>
        <a:spcPct val="50000"/>
      </a:spcBef>
      <a:spcAft>
        <a:spcPct val="0"/>
      </a:spcAft>
      <a:defRPr kern="1200">
        <a:solidFill>
          <a:schemeClr val="accent1"/>
        </a:solidFill>
        <a:latin typeface="Arial" charset="0"/>
        <a:ea typeface="+mn-ea"/>
        <a:cs typeface="+mn-cs"/>
      </a:defRPr>
    </a:lvl3pPr>
    <a:lvl4pPr marL="1371600" algn="ctr" rtl="0" fontAlgn="base">
      <a:spcBef>
        <a:spcPct val="50000"/>
      </a:spcBef>
      <a:spcAft>
        <a:spcPct val="0"/>
      </a:spcAft>
      <a:defRPr kern="1200">
        <a:solidFill>
          <a:schemeClr val="accent1"/>
        </a:solidFill>
        <a:latin typeface="Arial" charset="0"/>
        <a:ea typeface="+mn-ea"/>
        <a:cs typeface="+mn-cs"/>
      </a:defRPr>
    </a:lvl4pPr>
    <a:lvl5pPr marL="1828800" algn="ctr" rtl="0" fontAlgn="base">
      <a:spcBef>
        <a:spcPct val="50000"/>
      </a:spcBef>
      <a:spcAft>
        <a:spcPct val="0"/>
      </a:spcAft>
      <a:defRPr kern="1200">
        <a:solidFill>
          <a:schemeClr val="accent1"/>
        </a:solidFill>
        <a:latin typeface="Arial" charset="0"/>
        <a:ea typeface="+mn-ea"/>
        <a:cs typeface="+mn-cs"/>
      </a:defRPr>
    </a:lvl5pPr>
    <a:lvl6pPr marL="2286000" algn="l" defTabSz="914400" rtl="0" eaLnBrk="1" latinLnBrk="0" hangingPunct="1">
      <a:defRPr kern="1200">
        <a:solidFill>
          <a:schemeClr val="accent1"/>
        </a:solidFill>
        <a:latin typeface="Arial" charset="0"/>
        <a:ea typeface="+mn-ea"/>
        <a:cs typeface="+mn-cs"/>
      </a:defRPr>
    </a:lvl6pPr>
    <a:lvl7pPr marL="2743200" algn="l" defTabSz="914400" rtl="0" eaLnBrk="1" latinLnBrk="0" hangingPunct="1">
      <a:defRPr kern="1200">
        <a:solidFill>
          <a:schemeClr val="accent1"/>
        </a:solidFill>
        <a:latin typeface="Arial" charset="0"/>
        <a:ea typeface="+mn-ea"/>
        <a:cs typeface="+mn-cs"/>
      </a:defRPr>
    </a:lvl7pPr>
    <a:lvl8pPr marL="3200400" algn="l" defTabSz="914400" rtl="0" eaLnBrk="1" latinLnBrk="0" hangingPunct="1">
      <a:defRPr kern="1200">
        <a:solidFill>
          <a:schemeClr val="accent1"/>
        </a:solidFill>
        <a:latin typeface="Arial" charset="0"/>
        <a:ea typeface="+mn-ea"/>
        <a:cs typeface="+mn-cs"/>
      </a:defRPr>
    </a:lvl8pPr>
    <a:lvl9pPr marL="3657600" algn="l" defTabSz="914400" rtl="0" eaLnBrk="1" latinLnBrk="0" hangingPunct="1">
      <a:defRPr kern="1200">
        <a:solidFill>
          <a:schemeClr val="accent1"/>
        </a:solidFill>
        <a:latin typeface="Arial" charset="0"/>
        <a:ea typeface="+mn-ea"/>
        <a:cs typeface="+mn-cs"/>
      </a:defRPr>
    </a:lvl9pPr>
  </p:defaultTextStyle>
  <p:extLst>
    <p:ext uri="{521415D9-36F7-43E2-AB2F-B90AF26B5E84}">
      <p14:sectionLst xmlns:p14="http://schemas.microsoft.com/office/powerpoint/2010/main">
        <p14:section name="Default Section" id="{78DC6668-B206-44E6-9279-EA249B3A05CD}">
          <p14:sldIdLst>
            <p14:sldId id="256"/>
            <p14:sldId id="318"/>
            <p14:sldId id="259"/>
            <p14:sldId id="321"/>
            <p14:sldId id="322"/>
            <p14:sldId id="323"/>
            <p14:sldId id="285"/>
            <p14:sldId id="287"/>
            <p14:sldId id="298"/>
            <p14:sldId id="296"/>
            <p14:sldId id="297"/>
            <p14:sldId id="299"/>
            <p14:sldId id="295"/>
            <p14:sldId id="333"/>
            <p14:sldId id="335"/>
            <p14:sldId id="336"/>
            <p14:sldId id="330"/>
            <p14:sldId id="331"/>
            <p14:sldId id="332"/>
            <p14:sldId id="284"/>
            <p14:sldId id="262"/>
            <p14:sldId id="286"/>
            <p14:sldId id="312"/>
            <p14:sldId id="313"/>
            <p14:sldId id="277"/>
            <p14:sldId id="302"/>
            <p14:sldId id="303"/>
            <p14:sldId id="300"/>
            <p14:sldId id="304"/>
            <p14:sldId id="301"/>
            <p14:sldId id="305"/>
            <p14:sldId id="268"/>
            <p14:sldId id="293"/>
            <p14:sldId id="306"/>
            <p14:sldId id="308"/>
            <p14:sldId id="307"/>
            <p14:sldId id="309"/>
            <p14:sldId id="311"/>
            <p14:sldId id="310"/>
            <p14:sldId id="294"/>
            <p14:sldId id="314"/>
            <p14:sldId id="315"/>
            <p14:sldId id="316"/>
            <p14:sldId id="276"/>
            <p14:sldId id="266"/>
          </p14:sldIdLst>
        </p14:section>
      </p14:sectionLst>
    </p:ext>
    <p:ext uri="{EFAFB233-063F-42B5-8137-9DF3F51BA10A}">
      <p15:sldGuideLst xmlns:p15="http://schemas.microsoft.com/office/powerpoint/2012/main">
        <p15:guide id="1" orient="horz" pos="2160">
          <p15:clr>
            <a:srgbClr val="A4A3A4"/>
          </p15:clr>
        </p15:guide>
        <p15:guide id="2" orient="horz" pos="4225">
          <p15:clr>
            <a:srgbClr val="A4A3A4"/>
          </p15:clr>
        </p15:guide>
        <p15:guide id="3" orient="horz" pos="1348">
          <p15:clr>
            <a:srgbClr val="A4A3A4"/>
          </p15:clr>
        </p15:guide>
        <p15:guide id="4" orient="horz" pos="700">
          <p15:clr>
            <a:srgbClr val="A4A3A4"/>
          </p15:clr>
        </p15:guide>
        <p15:guide id="5" orient="horz" pos="777">
          <p15:clr>
            <a:srgbClr val="A4A3A4"/>
          </p15:clr>
        </p15:guide>
        <p15:guide id="6" orient="horz" pos="484">
          <p15:clr>
            <a:srgbClr val="A4A3A4"/>
          </p15:clr>
        </p15:guide>
        <p15:guide id="7" orient="horz" pos="525">
          <p15:clr>
            <a:srgbClr val="A4A3A4"/>
          </p15:clr>
        </p15:guide>
        <p15:guide id="8" orient="horz" pos="286">
          <p15:clr>
            <a:srgbClr val="A4A3A4"/>
          </p15:clr>
        </p15:guide>
        <p15:guide id="9" orient="horz" pos="2541">
          <p15:clr>
            <a:srgbClr val="A4A3A4"/>
          </p15:clr>
        </p15:guide>
        <p15:guide id="10" pos="2880">
          <p15:clr>
            <a:srgbClr val="A4A3A4"/>
          </p15:clr>
        </p15:guide>
        <p15:guide id="11" pos="5469">
          <p15:clr>
            <a:srgbClr val="A4A3A4"/>
          </p15:clr>
        </p15:guide>
        <p15:guide id="12" pos="3619">
          <p15:clr>
            <a:srgbClr val="A4A3A4"/>
          </p15:clr>
        </p15:guide>
        <p15:guide id="13" pos="3119">
          <p15:clr>
            <a:srgbClr val="A4A3A4"/>
          </p15:clr>
        </p15:guide>
        <p15:guide id="14" pos="154">
          <p15:clr>
            <a:srgbClr val="A4A3A4"/>
          </p15:clr>
        </p15:guide>
        <p15:guide id="15" pos="263">
          <p15:clr>
            <a:srgbClr val="A4A3A4"/>
          </p15:clr>
        </p15:guide>
        <p15:guide id="16" pos="87">
          <p15:clr>
            <a:srgbClr val="A4A3A4"/>
          </p15:clr>
        </p15:guide>
        <p15:guide id="17" pos="56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581797-077F-1733-0475-71FD844B08F6}" v="1" dt="2025-07-17T15:53:52.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7" d="100"/>
          <a:sy n="147" d="100"/>
        </p:scale>
        <p:origin x="4722" y="126"/>
      </p:cViewPr>
      <p:guideLst>
        <p:guide orient="horz" pos="2160"/>
        <p:guide orient="horz" pos="4225"/>
        <p:guide orient="horz" pos="1348"/>
        <p:guide orient="horz" pos="700"/>
        <p:guide orient="horz" pos="777"/>
        <p:guide orient="horz" pos="484"/>
        <p:guide orient="horz" pos="525"/>
        <p:guide orient="horz" pos="286"/>
        <p:guide orient="horz" pos="2541"/>
        <p:guide pos="2880"/>
        <p:guide pos="5469"/>
        <p:guide pos="3619"/>
        <p:guide pos="3119"/>
        <p:guide pos="154"/>
        <p:guide pos="263"/>
        <p:guide pos="87"/>
        <p:guide pos="56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 Type="http://schemas.openxmlformats.org/officeDocument/2006/relationships/slideMaster" Target="slideMasters/slideMaster1.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5/10/relationships/revisionInfo" Target="revisionInfo.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gs" Target="tags/tag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2-17T16:09:39.97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0,'0'2,"0"1,0-1,1 0,-1 0,1 0,0 0,-1 0,1 0,0 0,0 0,0-1,0 1,1 0,-1 0,0-1,1 1,-1-1,1 1,0-1,-1 0,1 0,0 0,0 0,0 0,0 0,0 0,2 0,7 3,1 0,1-2,19 3,-9-1,7 0,0-1,60-3,17 2,-32 15,-60-16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2-17T16:10:10.76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38,'38'-13,"0"8,0 3,71 3,-32 1,-13-1,68 11,-104-9,32-2,-38-1,-1 0,1 1,24 6,-15-2,1-2,-1 0,46-3,23 1,-33 8,-45-5,39 1,47 4,-6 0,273-9,-179-1,-161 0,35-7,32-1,-83 8,36-7,-34 4,32-1,243 4,-134 2,-153-2,1 0,0 0,14-4,19-4,5 5,236-12,-210 17,99-2,-105-8,-40 5,34-1,773 3,-405 4,1014-2,-1414 1,38 8,23 0,31-9,-40 0,98 10,-92-2,129-7,-102-3,359 2,-440 2,38 6,-39-3,42 0,450-6,-519 1,0 0,-1-1,1 0,-1 1,0-2,1 1,-1-1,0 0,0 0,0 0,0-1,0 0,0 0,7-6,-1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2-17T16:24:31.3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1,'32'0,"0"1,50 9,-38-1,58 10,-53-12,-30-3,1-1,21 0,1287-3,-609-1,-708 0,-1 0,1 0,19-7,-18 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9:25:02.112"/>
    </inkml:context>
    <inkml:brush xml:id="br0">
      <inkml:brushProperty name="width" value="0.05" units="cm"/>
      <inkml:brushProperty name="height" value="0.05" units="cm"/>
      <inkml:brushProperty name="color" value="#E71224"/>
    </inkml:brush>
  </inkml:definitions>
  <inkml:trace contextRef="#ctx0" brushRef="#br0">0 52 24575,'0'-3'0,"3"-4"0,5-1 0,3 0 0,0 0 0,2 0 0,1 2 0,-2 2-8191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9:25:02.453"/>
    </inkml:context>
    <inkml:brush xml:id="br0">
      <inkml:brushProperty name="width" value="0.05" units="cm"/>
      <inkml:brushProperty name="height" value="0.05" units="cm"/>
      <inkml:brushProperty name="color" value="#E71224"/>
    </inkml:brush>
  </inkml:definitions>
  <inkml:trace contextRef="#ctx0" brushRef="#br0">0 18 24575,'0'-3'0,"3"-1"0,4 0 0,4 1 0,4 0 0,-2 2-8191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B958D10A-11D6-4ABD-B0B6-AA94CD8A9BF7}" type="datetimeFigureOut">
              <a:rPr lang="en-US" smtClean="0"/>
              <a:pPr/>
              <a:t>3/25/2026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E8519FCF-AB43-44B9-B65B-9FFD19EB32C6}" type="slidenum">
              <a:rPr lang="en-US" smtClean="0"/>
              <a:pPr/>
              <a:t>‹#›</a:t>
            </a:fld>
            <a:endParaRPr lang="en-US"/>
          </a:p>
        </p:txBody>
      </p:sp>
    </p:spTree>
    <p:extLst>
      <p:ext uri="{BB962C8B-B14F-4D97-AF65-F5344CB8AC3E}">
        <p14:creationId xmlns:p14="http://schemas.microsoft.com/office/powerpoint/2010/main" val="1714691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Commonly</a:t>
            </a:r>
            <a:r>
              <a:rPr lang="en-US" baseline="0"/>
              <a:t> used for interface error alerts or delete shipments.  </a:t>
            </a:r>
            <a:endParaRPr lang="en-US"/>
          </a:p>
        </p:txBody>
      </p:sp>
      <p:sp>
        <p:nvSpPr>
          <p:cNvPr id="4" name="Slide Number Placeholder 3"/>
          <p:cNvSpPr>
            <a:spLocks noGrp="1"/>
          </p:cNvSpPr>
          <p:nvPr>
            <p:ph type="sldNum" sz="quarter" idx="10"/>
          </p:nvPr>
        </p:nvSpPr>
        <p:spPr/>
        <p:txBody>
          <a:bodyPr/>
          <a:lstStyle/>
          <a:p>
            <a:fld id="{E8519FCF-AB43-44B9-B65B-9FFD19EB32C6}" type="slidenum">
              <a:rPr lang="en-US" smtClean="0"/>
              <a:pPr/>
              <a:t>7</a:t>
            </a:fld>
            <a:endParaRPr lang="en-US"/>
          </a:p>
        </p:txBody>
      </p:sp>
    </p:spTree>
    <p:extLst>
      <p:ext uri="{BB962C8B-B14F-4D97-AF65-F5344CB8AC3E}">
        <p14:creationId xmlns:p14="http://schemas.microsoft.com/office/powerpoint/2010/main" val="417321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Commonly</a:t>
            </a:r>
            <a:r>
              <a:rPr lang="en-US" baseline="0"/>
              <a:t> used for interface error alerts or delete shipments.  </a:t>
            </a:r>
            <a:endParaRPr lang="en-US"/>
          </a:p>
        </p:txBody>
      </p:sp>
      <p:sp>
        <p:nvSpPr>
          <p:cNvPr id="4" name="Slide Number Placeholder 3"/>
          <p:cNvSpPr>
            <a:spLocks noGrp="1"/>
          </p:cNvSpPr>
          <p:nvPr>
            <p:ph type="sldNum" sz="quarter" idx="10"/>
          </p:nvPr>
        </p:nvSpPr>
        <p:spPr/>
        <p:txBody>
          <a:bodyPr/>
          <a:lstStyle/>
          <a:p>
            <a:fld id="{E8519FCF-AB43-44B9-B65B-9FFD19EB32C6}" type="slidenum">
              <a:rPr lang="en-US" smtClean="0"/>
              <a:pPr/>
              <a:t>8</a:t>
            </a:fld>
            <a:endParaRPr lang="en-US"/>
          </a:p>
        </p:txBody>
      </p:sp>
    </p:spTree>
    <p:extLst>
      <p:ext uri="{BB962C8B-B14F-4D97-AF65-F5344CB8AC3E}">
        <p14:creationId xmlns:p14="http://schemas.microsoft.com/office/powerpoint/2010/main" val="357846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a:t>
            </a:r>
            <a:r>
              <a:rPr lang="en-US" baseline="0"/>
              <a:t> Show Carrier EDI Reference field </a:t>
            </a:r>
            <a:r>
              <a:rPr lang="en-US" baseline="0" err="1"/>
              <a:t>configs</a:t>
            </a:r>
            <a:endParaRPr lang="en-US"/>
          </a:p>
        </p:txBody>
      </p:sp>
      <p:sp>
        <p:nvSpPr>
          <p:cNvPr id="4" name="Slide Number Placeholder 3"/>
          <p:cNvSpPr>
            <a:spLocks noGrp="1"/>
          </p:cNvSpPr>
          <p:nvPr>
            <p:ph type="sldNum" sz="quarter" idx="10"/>
          </p:nvPr>
        </p:nvSpPr>
        <p:spPr/>
        <p:txBody>
          <a:bodyPr/>
          <a:lstStyle/>
          <a:p>
            <a:fld id="{E8519FCF-AB43-44B9-B65B-9FFD19EB32C6}" type="slidenum">
              <a:rPr lang="en-US" smtClean="0"/>
              <a:pPr/>
              <a:t>10</a:t>
            </a:fld>
            <a:endParaRPr lang="en-US"/>
          </a:p>
        </p:txBody>
      </p:sp>
    </p:spTree>
    <p:extLst>
      <p:ext uri="{BB962C8B-B14F-4D97-AF65-F5344CB8AC3E}">
        <p14:creationId xmlns:p14="http://schemas.microsoft.com/office/powerpoint/2010/main" val="2053537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Prints during Locating</a:t>
            </a:r>
          </a:p>
        </p:txBody>
      </p:sp>
      <p:sp>
        <p:nvSpPr>
          <p:cNvPr id="4" name="Slide Number Placeholder 3"/>
          <p:cNvSpPr>
            <a:spLocks noGrp="1"/>
          </p:cNvSpPr>
          <p:nvPr>
            <p:ph type="sldNum" sz="quarter" idx="10"/>
          </p:nvPr>
        </p:nvSpPr>
        <p:spPr/>
        <p:txBody>
          <a:bodyPr/>
          <a:lstStyle/>
          <a:p>
            <a:fld id="{E8519FCF-AB43-44B9-B65B-9FFD19EB32C6}" type="slidenum">
              <a:rPr lang="en-US" smtClean="0"/>
              <a:pPr/>
              <a:t>13</a:t>
            </a:fld>
            <a:endParaRPr lang="en-US"/>
          </a:p>
        </p:txBody>
      </p:sp>
    </p:spTree>
    <p:extLst>
      <p:ext uri="{BB962C8B-B14F-4D97-AF65-F5344CB8AC3E}">
        <p14:creationId xmlns:p14="http://schemas.microsoft.com/office/powerpoint/2010/main" val="249493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Commonly</a:t>
            </a:r>
            <a:r>
              <a:rPr lang="en-US" baseline="0"/>
              <a:t> used for interface error alerts or delete shipments.  </a:t>
            </a:r>
            <a:endParaRPr lang="en-US"/>
          </a:p>
        </p:txBody>
      </p:sp>
      <p:sp>
        <p:nvSpPr>
          <p:cNvPr id="4" name="Slide Number Placeholder 3"/>
          <p:cNvSpPr>
            <a:spLocks noGrp="1"/>
          </p:cNvSpPr>
          <p:nvPr>
            <p:ph type="sldNum" sz="quarter" idx="10"/>
          </p:nvPr>
        </p:nvSpPr>
        <p:spPr/>
        <p:txBody>
          <a:bodyPr/>
          <a:lstStyle/>
          <a:p>
            <a:fld id="{E8519FCF-AB43-44B9-B65B-9FFD19EB32C6}" type="slidenum">
              <a:rPr lang="en-US" smtClean="0"/>
              <a:pPr/>
              <a:t>21</a:t>
            </a:fld>
            <a:endParaRPr lang="en-US"/>
          </a:p>
        </p:txBody>
      </p:sp>
    </p:spTree>
    <p:extLst>
      <p:ext uri="{BB962C8B-B14F-4D97-AF65-F5344CB8AC3E}">
        <p14:creationId xmlns:p14="http://schemas.microsoft.com/office/powerpoint/2010/main" val="1529336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8519FCF-AB43-44B9-B65B-9FFD19EB32C6}" type="slidenum">
              <a:rPr lang="en-US" smtClean="0"/>
              <a:pPr/>
              <a:t>25</a:t>
            </a:fld>
            <a:endParaRPr lang="en-US"/>
          </a:p>
        </p:txBody>
      </p:sp>
    </p:spTree>
    <p:extLst>
      <p:ext uri="{BB962C8B-B14F-4D97-AF65-F5344CB8AC3E}">
        <p14:creationId xmlns:p14="http://schemas.microsoft.com/office/powerpoint/2010/main" val="4277831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8519FCF-AB43-44B9-B65B-9FFD19EB32C6}" type="slidenum">
              <a:rPr lang="en-US" smtClean="0"/>
              <a:pPr/>
              <a:t>36</a:t>
            </a:fld>
            <a:endParaRPr lang="en-US"/>
          </a:p>
        </p:txBody>
      </p:sp>
    </p:spTree>
    <p:extLst>
      <p:ext uri="{BB962C8B-B14F-4D97-AF65-F5344CB8AC3E}">
        <p14:creationId xmlns:p14="http://schemas.microsoft.com/office/powerpoint/2010/main" val="2309075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ltGray">
      <p:bgPr>
        <a:blipFill dpi="0" rotWithShape="0">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972703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8371" name="Rectangle 3"/>
          <p:cNvSpPr>
            <a:spLocks noGrp="1" noChangeArrowheads="1"/>
          </p:cNvSpPr>
          <p:nvPr>
            <p:ph type="ctrTitle"/>
          </p:nvPr>
        </p:nvSpPr>
        <p:spPr>
          <a:xfrm>
            <a:off x="735812" y="1798638"/>
            <a:ext cx="4312444" cy="1730375"/>
          </a:xfrm>
        </p:spPr>
        <p:txBody>
          <a:bodyPr anchor="t"/>
          <a:lstStyle>
            <a:lvl1pPr algn="r">
              <a:defRPr sz="2400" b="0" baseline="0" smtClean="0">
                <a:solidFill>
                  <a:schemeClr val="accent2"/>
                </a:solidFill>
              </a:defRPr>
            </a:lvl1pPr>
          </a:lstStyle>
          <a:p>
            <a:r>
              <a:rPr lang="en-US"/>
              <a:t>Click to edit Master title style</a:t>
            </a:r>
          </a:p>
        </p:txBody>
      </p:sp>
      <p:sp>
        <p:nvSpPr>
          <p:cNvPr id="58376" name="Rectangle 8"/>
          <p:cNvSpPr>
            <a:spLocks noGrp="1" noChangeArrowheads="1"/>
          </p:cNvSpPr>
          <p:nvPr>
            <p:ph type="subTitle" idx="1"/>
          </p:nvPr>
        </p:nvSpPr>
        <p:spPr>
          <a:xfrm>
            <a:off x="5647532" y="1897860"/>
            <a:ext cx="3146424" cy="1097753"/>
          </a:xfrm>
        </p:spPr>
        <p:txBody>
          <a:bodyPr rIns="0" anchor="t" anchorCtr="0"/>
          <a:lstStyle>
            <a:lvl1pPr marL="0" indent="0">
              <a:spcBef>
                <a:spcPct val="0"/>
              </a:spcBef>
              <a:buFontTx/>
              <a:buNone/>
              <a:defRPr sz="1600" smtClean="0">
                <a:solidFill>
                  <a:schemeClr val="bg1"/>
                </a:solidFill>
              </a:defRPr>
            </a:lvl1pPr>
          </a:lstStyle>
          <a:p>
            <a:r>
              <a:rPr lang="en-US"/>
              <a:t>Click to edit Master subtitle style</a:t>
            </a: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8400" y="453711"/>
            <a:ext cx="8520113" cy="300037"/>
          </a:xfrm>
        </p:spPr>
        <p:txBody>
          <a:bodyPr anchor="t" anchorCtr="0"/>
          <a:lstStyle>
            <a:lvl1pPr>
              <a:defRPr>
                <a:solidFill>
                  <a:schemeClr val="accent2"/>
                </a:solidFill>
              </a:defRPr>
            </a:lvl1pPr>
          </a:lstStyle>
          <a:p>
            <a:r>
              <a:rPr lang="en-US"/>
              <a:t>Click to edit Master title style</a:t>
            </a:r>
          </a:p>
        </p:txBody>
      </p:sp>
      <p:sp>
        <p:nvSpPr>
          <p:cNvPr id="3" name="Content Placeholder 2"/>
          <p:cNvSpPr>
            <a:spLocks noGrp="1"/>
          </p:cNvSpPr>
          <p:nvPr>
            <p:ph idx="1"/>
          </p:nvPr>
        </p:nvSpPr>
        <p:spPr>
          <a:xfrm>
            <a:off x="138400" y="1122709"/>
            <a:ext cx="8526463" cy="5092354"/>
          </a:xfrm>
        </p:spPr>
        <p:txBody>
          <a:bodyPr/>
          <a:lstStyle>
            <a:lvl1pPr>
              <a:spcBef>
                <a:spcPts val="1400"/>
              </a:spcBef>
              <a:defRPr/>
            </a:lvl1pPr>
            <a:lvl2pPr>
              <a:defRPr sz="1600"/>
            </a:lvl2pPr>
            <a:lvl3pPr>
              <a:buClr>
                <a:schemeClr val="accent2"/>
              </a:buClr>
              <a:buFont typeface="Arial" pitchFamily="34" charset="0"/>
              <a:buChar char="»"/>
              <a:defRPr sz="1400"/>
            </a:lvl3pPr>
            <a:lvl4pPr marL="1143000" indent="-171450">
              <a:buClr>
                <a:schemeClr val="accent2"/>
              </a:buClr>
              <a:defRPr sz="1200"/>
            </a:lvl4pPr>
            <a:lvl5pPr marL="1371600" indent="-107950">
              <a:spcBef>
                <a:spcPts val="0"/>
              </a:spcBef>
              <a:buClr>
                <a:schemeClr val="accent2"/>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a:xfrm>
            <a:off x="138400" y="453711"/>
            <a:ext cx="8520113" cy="300037"/>
          </a:xfrm>
        </p:spPr>
        <p:txBody>
          <a:bodyPr anchor="t" anchorCtr="0"/>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3245370" y="2136631"/>
            <a:ext cx="4061893" cy="2908300"/>
          </a:xfrm>
        </p:spPr>
        <p:txBody>
          <a:bodyPr anchor="ctr" anchorCtr="0"/>
          <a:lstStyle>
            <a:lvl1pPr>
              <a:defRPr/>
            </a:lvl1pPr>
          </a:lstStyle>
          <a:p>
            <a:pPr lvl="0"/>
            <a:r>
              <a:rPr lang="en-US"/>
              <a:t>Click to edit Master text styles</a:t>
            </a:r>
          </a:p>
          <a:p>
            <a:pPr lvl="1"/>
            <a:r>
              <a:rPr lang="en-US"/>
              <a:t>Second level</a:t>
            </a:r>
          </a:p>
        </p:txBody>
      </p:sp>
      <p:cxnSp>
        <p:nvCxnSpPr>
          <p:cNvPr id="6" name="Straight Connector 5"/>
          <p:cNvCxnSpPr/>
          <p:nvPr userDrawn="1"/>
        </p:nvCxnSpPr>
        <p:spPr bwMode="auto">
          <a:xfrm rot="5400000">
            <a:off x="1537681" y="3589987"/>
            <a:ext cx="2952273" cy="1588"/>
          </a:xfrm>
          <a:prstGeom prst="line">
            <a:avLst/>
          </a:prstGeom>
          <a:noFill/>
          <a:ln w="19050" cap="flat" cmpd="sng" algn="ctr">
            <a:solidFill>
              <a:schemeClr val="bg2"/>
            </a:solidFill>
            <a:prstDash val="solid"/>
            <a:round/>
            <a:headEnd type="none" w="med" len="med"/>
            <a:tailEnd type="none" w="med" len="med"/>
          </a:ln>
          <a:effectLst/>
        </p:spPr>
      </p:cxn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2800" b="1"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bg2"/>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cxnSp>
        <p:nvCxnSpPr>
          <p:cNvPr id="6" name="Straight Connector 5"/>
          <p:cNvCxnSpPr/>
          <p:nvPr userDrawn="1"/>
        </p:nvCxnSpPr>
        <p:spPr bwMode="auto">
          <a:xfrm>
            <a:off x="733778" y="4413956"/>
            <a:ext cx="7721600" cy="1588"/>
          </a:xfrm>
          <a:prstGeom prst="line">
            <a:avLst/>
          </a:prstGeom>
          <a:noFill/>
          <a:ln w="9525">
            <a:solidFill>
              <a:srgbClr val="9FA617"/>
            </a:solidFill>
            <a:round/>
            <a:headEnd/>
            <a:tailEnd/>
          </a:ln>
          <a:effectLst/>
        </p:spPr>
      </p:cxn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8400" y="453711"/>
            <a:ext cx="8520113" cy="300037"/>
          </a:xfrm>
        </p:spPr>
        <p:txBody>
          <a:bodyPr anchor="t" anchorCtr="0"/>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136949" y="1122282"/>
            <a:ext cx="4186238" cy="5071349"/>
          </a:xfrm>
        </p:spPr>
        <p:txBody>
          <a:bodyPr/>
          <a:lstStyle>
            <a:lvl1pPr>
              <a:defRPr sz="2000"/>
            </a:lvl1pPr>
            <a:lvl2pPr>
              <a:defRPr sz="1600"/>
            </a:lvl2pPr>
            <a:lvl3pPr>
              <a:defRPr sz="1400"/>
            </a:lvl3pPr>
            <a:lvl4pPr>
              <a:buClr>
                <a:schemeClr val="accent2"/>
              </a:buClr>
              <a:defRPr sz="1200"/>
            </a:lvl4pPr>
            <a:lvl5pPr>
              <a:buClr>
                <a:schemeClr val="accent2"/>
              </a:buClr>
              <a:defRPr sz="11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32588" y="1122282"/>
            <a:ext cx="4187825" cy="5071349"/>
          </a:xfrm>
        </p:spPr>
        <p:txBody>
          <a:bodyPr/>
          <a:lstStyle>
            <a:lvl1pPr>
              <a:defRPr sz="2000"/>
            </a:lvl1pPr>
            <a:lvl2pPr>
              <a:defRPr sz="1800"/>
            </a:lvl2pPr>
            <a:lvl3pPr>
              <a:defRPr sz="1600"/>
            </a:lvl3pPr>
            <a:lvl4pPr>
              <a:buClr>
                <a:schemeClr val="accent2"/>
              </a:buClr>
              <a:defRPr sz="1600"/>
            </a:lvl4pPr>
            <a:lvl5pPr>
              <a:buClr>
                <a:schemeClr val="accent2"/>
              </a:buCl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4785" y="454412"/>
            <a:ext cx="8229600" cy="509587"/>
          </a:xfrm>
        </p:spPr>
        <p:txBody>
          <a:bodyPr/>
          <a:lstStyle>
            <a:lvl1pPr>
              <a:defRPr>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41573" y="876448"/>
            <a:ext cx="4040188" cy="639762"/>
          </a:xfrm>
        </p:spPr>
        <p:txBody>
          <a:bodyPr anchor="b"/>
          <a:lstStyle>
            <a:lvl1pPr marL="0" indent="0">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1573" y="1543673"/>
            <a:ext cx="4040188" cy="4738307"/>
          </a:xfrm>
        </p:spPr>
        <p:txBody>
          <a:bodyPr/>
          <a:lstStyle>
            <a:lvl1pPr>
              <a:defRPr sz="1800"/>
            </a:lvl1pPr>
            <a:lvl2pPr>
              <a:defRPr sz="1400"/>
            </a:lvl2pPr>
            <a:lvl3pPr>
              <a:defRPr sz="1200"/>
            </a:lvl3pPr>
            <a:lvl4pPr>
              <a:buClr>
                <a:schemeClr val="accent2"/>
              </a:buClr>
              <a:defRPr sz="1100"/>
            </a:lvl4pPr>
            <a:lvl5pPr>
              <a:buClr>
                <a:schemeClr val="accent2"/>
              </a:buClr>
              <a:defRPr sz="105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532600" y="876448"/>
            <a:ext cx="4041775" cy="639762"/>
          </a:xfrm>
        </p:spPr>
        <p:txBody>
          <a:bodyPr anchor="b"/>
          <a:lstStyle>
            <a:lvl1pPr marL="0" indent="0">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32600" y="1543673"/>
            <a:ext cx="4041775" cy="4738307"/>
          </a:xfrm>
        </p:spPr>
        <p:txBody>
          <a:bodyPr/>
          <a:lstStyle>
            <a:lvl1pPr>
              <a:defRPr sz="1800"/>
            </a:lvl1pPr>
            <a:lvl2pPr>
              <a:defRPr sz="1400"/>
            </a:lvl2pPr>
            <a:lvl3pPr>
              <a:defRPr sz="1200"/>
            </a:lvl3pPr>
            <a:lvl4pPr>
              <a:buClr>
                <a:schemeClr val="accent2"/>
              </a:buClr>
              <a:defRPr sz="1100"/>
            </a:lvl4pPr>
            <a:lvl5pPr>
              <a:buClr>
                <a:schemeClr val="accent2"/>
              </a:buClr>
              <a:defRPr sz="105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8400" y="453833"/>
            <a:ext cx="8520113" cy="300037"/>
          </a:xfrm>
        </p:spPr>
        <p:txBody>
          <a:bodyPr/>
          <a:lstStyle>
            <a:lvl1pPr>
              <a:defRPr>
                <a:solidFill>
                  <a:schemeClr val="accent2"/>
                </a:solidFill>
              </a:defRPr>
            </a:lvl1pPr>
          </a:lstStyle>
          <a:p>
            <a:r>
              <a:rPr lang="en-US"/>
              <a:t>Click to edit Master title style</a:t>
            </a: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6755" y="452753"/>
            <a:ext cx="8520113" cy="300037"/>
          </a:xfrm>
        </p:spPr>
        <p:txBody>
          <a:bodyPr/>
          <a:lstStyle/>
          <a:p>
            <a:r>
              <a:rPr lang="en-US"/>
              <a:t>Click to edit Master title style</a:t>
            </a:r>
          </a:p>
        </p:txBody>
      </p:sp>
      <p:sp>
        <p:nvSpPr>
          <p:cNvPr id="3" name="Table Placeholder 2"/>
          <p:cNvSpPr>
            <a:spLocks noGrp="1"/>
          </p:cNvSpPr>
          <p:nvPr>
            <p:ph type="tbl" idx="1"/>
          </p:nvPr>
        </p:nvSpPr>
        <p:spPr>
          <a:xfrm>
            <a:off x="129575" y="851790"/>
            <a:ext cx="8506713" cy="4525963"/>
          </a:xfrm>
        </p:spPr>
        <p:txBody>
          <a:bodyPr/>
          <a:lstStyle/>
          <a:p>
            <a:pPr lvl="0"/>
            <a:r>
              <a:rPr lang="en-US" noProof="0"/>
              <a:t>Click icon to add table</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927" y="452227"/>
            <a:ext cx="8520113" cy="300037"/>
          </a:xfrm>
        </p:spPr>
        <p:txBody>
          <a:bodyPr/>
          <a:lstStyle/>
          <a:p>
            <a:r>
              <a:rPr lang="en-US"/>
              <a:t>Click to edit Master title style</a:t>
            </a:r>
          </a:p>
        </p:txBody>
      </p:sp>
      <p:sp>
        <p:nvSpPr>
          <p:cNvPr id="3" name="Text Placeholder 2"/>
          <p:cNvSpPr>
            <a:spLocks noGrp="1"/>
          </p:cNvSpPr>
          <p:nvPr>
            <p:ph type="body" sz="half" idx="1"/>
          </p:nvPr>
        </p:nvSpPr>
        <p:spPr>
          <a:xfrm>
            <a:off x="137009" y="1119414"/>
            <a:ext cx="4186238" cy="4525963"/>
          </a:xfrm>
        </p:spPr>
        <p:txBody>
          <a:bodyPr/>
          <a:lstStyle>
            <a:lvl1pPr>
              <a:defRPr sz="1800"/>
            </a:lvl1pPr>
            <a:lvl2pPr>
              <a:defRPr sz="1400"/>
            </a:lvl2pPr>
            <a:lvl3pPr>
              <a:defRPr sz="1200"/>
            </a:lvl3pPr>
            <a:lvl4pPr>
              <a:defRPr sz="110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32588" y="1119414"/>
            <a:ext cx="4187825" cy="4525963"/>
          </a:xfrm>
        </p:spPr>
        <p:txBody>
          <a:bodyPr/>
          <a:lstStyle>
            <a:lvl1pPr>
              <a:defRPr sz="1800"/>
            </a:lvl1pPr>
            <a:lvl2pPr>
              <a:defRPr sz="1400"/>
            </a:lvl2pPr>
            <a:lvl3pPr>
              <a:defRPr sz="1200"/>
            </a:lvl3pPr>
            <a:lvl4pPr>
              <a:defRPr sz="110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blipFill dpi="0" rotWithShape="0">
          <a:blip r:embed="rId12">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138400" y="1117600"/>
            <a:ext cx="852646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7" name="Rectangle 3"/>
          <p:cNvSpPr>
            <a:spLocks noGrp="1" noChangeArrowheads="1"/>
          </p:cNvSpPr>
          <p:nvPr>
            <p:ph type="title"/>
          </p:nvPr>
        </p:nvSpPr>
        <p:spPr bwMode="auto">
          <a:xfrm>
            <a:off x="138400" y="453711"/>
            <a:ext cx="8802400" cy="3749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312326" name="Text Box 6"/>
          <p:cNvSpPr txBox="1">
            <a:spLocks noChangeArrowheads="1"/>
          </p:cNvSpPr>
          <p:nvPr/>
        </p:nvSpPr>
        <p:spPr bwMode="auto">
          <a:xfrm rot="16200000">
            <a:off x="8903107" y="6687552"/>
            <a:ext cx="276999" cy="186910"/>
          </a:xfrm>
          <a:prstGeom prst="rect">
            <a:avLst/>
          </a:prstGeom>
          <a:noFill/>
          <a:ln w="9525">
            <a:noFill/>
            <a:miter lim="800000"/>
            <a:headEnd/>
            <a:tailEnd/>
          </a:ln>
          <a:effectLst/>
        </p:spPr>
        <p:txBody>
          <a:bodyPr vert="eaVert" wrap="none">
            <a:spAutoFit/>
          </a:bodyPr>
          <a:lstStyle/>
          <a:p>
            <a:pPr algn="r">
              <a:spcBef>
                <a:spcPct val="0"/>
              </a:spcBef>
              <a:defRPr/>
            </a:pPr>
            <a:fld id="{2E4B0D29-41F4-47EF-8315-7A4397EF9799}" type="slidenum">
              <a:rPr lang="en-GB" sz="600">
                <a:solidFill>
                  <a:schemeClr val="bg1"/>
                </a:solidFill>
              </a:rPr>
              <a:pPr algn="r">
                <a:spcBef>
                  <a:spcPct val="0"/>
                </a:spcBef>
                <a:defRPr/>
              </a:pPr>
              <a:t>‹#›</a:t>
            </a:fld>
            <a:endParaRPr lang="en-GB" sz="600">
              <a:solidFill>
                <a:schemeClr val="bg1"/>
              </a:solidFill>
            </a:endParaRPr>
          </a:p>
        </p:txBody>
      </p:sp>
      <p:sp>
        <p:nvSpPr>
          <p:cNvPr id="5" name="TextBox 4"/>
          <p:cNvSpPr txBox="1"/>
          <p:nvPr/>
        </p:nvSpPr>
        <p:spPr>
          <a:xfrm>
            <a:off x="136660" y="6579028"/>
            <a:ext cx="3888059" cy="174470"/>
          </a:xfrm>
          <a:prstGeom prst="rect">
            <a:avLst/>
          </a:prstGeom>
          <a:noFill/>
        </p:spPr>
        <p:txBody>
          <a:bodyPr wrap="none" rtlCol="0">
            <a:noAutofit/>
          </a:bodyPr>
          <a:lstStyle/>
          <a:p>
            <a:pPr algn="l"/>
            <a:r>
              <a:rPr lang="en-US" sz="550">
                <a:solidFill>
                  <a:schemeClr val="bg1"/>
                </a:solidFill>
              </a:rPr>
              <a:t>Copyright 2013 Manhattan Associates, Inc. Strictly</a:t>
            </a:r>
            <a:r>
              <a:rPr lang="en-US" sz="550" baseline="0">
                <a:solidFill>
                  <a:schemeClr val="bg1"/>
                </a:solidFill>
              </a:rPr>
              <a:t> Confidential. Not for Distribution.</a:t>
            </a:r>
            <a:endParaRPr lang="en-US" sz="550">
              <a:solidFill>
                <a:schemeClr val="bg1"/>
              </a:solidFill>
            </a:endParaRPr>
          </a:p>
        </p:txBody>
      </p:sp>
    </p:spTree>
  </p:cSld>
  <p:clrMap bg1="lt1" tx1="dk1" bg2="lt2" tx2="dk2" accent1="accent1" accent2="accent2" accent3="accent3" accent4="accent4" accent5="accent5" accent6="accent6" hlink="hlink" folHlink="folHlink"/>
  <p:sldLayoutIdLst>
    <p:sldLayoutId id="2147483668" r:id="rId1"/>
    <p:sldLayoutId id="2147483680" r:id="rId2"/>
    <p:sldLayoutId id="2147483681" r:id="rId3"/>
    <p:sldLayoutId id="2147483679" r:id="rId4"/>
    <p:sldLayoutId id="2147483678" r:id="rId5"/>
    <p:sldLayoutId id="2147483677" r:id="rId6"/>
    <p:sldLayoutId id="2147483676" r:id="rId7"/>
    <p:sldLayoutId id="2147483675" r:id="rId8"/>
    <p:sldLayoutId id="2147483670" r:id="rId9"/>
    <p:sldLayoutId id="2147483669" r:id="rId10"/>
  </p:sldLayoutIdLst>
  <p:transition>
    <p:fade/>
  </p:transition>
  <p:txStyles>
    <p:titleStyle>
      <a:lvl1pPr algn="l" rtl="0" eaLnBrk="1" fontAlgn="base" hangingPunct="1">
        <a:spcBef>
          <a:spcPct val="0"/>
        </a:spcBef>
        <a:spcAft>
          <a:spcPct val="0"/>
        </a:spcAft>
        <a:defRPr sz="2200" b="1">
          <a:solidFill>
            <a:schemeClr val="accent2"/>
          </a:solidFill>
          <a:latin typeface="+mj-lt"/>
          <a:ea typeface="+mj-ea"/>
          <a:cs typeface="+mj-cs"/>
        </a:defRPr>
      </a:lvl1pPr>
      <a:lvl2pPr algn="l" rtl="0" eaLnBrk="1" fontAlgn="base" hangingPunct="1">
        <a:spcBef>
          <a:spcPct val="0"/>
        </a:spcBef>
        <a:spcAft>
          <a:spcPct val="0"/>
        </a:spcAft>
        <a:defRPr sz="2200">
          <a:solidFill>
            <a:srgbClr val="9FA617"/>
          </a:solidFill>
          <a:latin typeface="Arial" charset="0"/>
        </a:defRPr>
      </a:lvl2pPr>
      <a:lvl3pPr algn="l" rtl="0" eaLnBrk="1" fontAlgn="base" hangingPunct="1">
        <a:spcBef>
          <a:spcPct val="0"/>
        </a:spcBef>
        <a:spcAft>
          <a:spcPct val="0"/>
        </a:spcAft>
        <a:defRPr sz="2200">
          <a:solidFill>
            <a:srgbClr val="9FA617"/>
          </a:solidFill>
          <a:latin typeface="Arial" charset="0"/>
        </a:defRPr>
      </a:lvl3pPr>
      <a:lvl4pPr algn="l" rtl="0" eaLnBrk="1" fontAlgn="base" hangingPunct="1">
        <a:spcBef>
          <a:spcPct val="0"/>
        </a:spcBef>
        <a:spcAft>
          <a:spcPct val="0"/>
        </a:spcAft>
        <a:defRPr sz="2200">
          <a:solidFill>
            <a:srgbClr val="9FA617"/>
          </a:solidFill>
          <a:latin typeface="Arial" charset="0"/>
        </a:defRPr>
      </a:lvl4pPr>
      <a:lvl5pPr algn="l" rtl="0" eaLnBrk="1" fontAlgn="base" hangingPunct="1">
        <a:spcBef>
          <a:spcPct val="0"/>
        </a:spcBef>
        <a:spcAft>
          <a:spcPct val="0"/>
        </a:spcAft>
        <a:defRPr sz="2200">
          <a:solidFill>
            <a:srgbClr val="9FA617"/>
          </a:solidFill>
          <a:latin typeface="Arial" charset="0"/>
        </a:defRPr>
      </a:lvl5pPr>
      <a:lvl6pPr marL="457200" algn="r" rtl="0" eaLnBrk="1" fontAlgn="base" hangingPunct="1">
        <a:spcBef>
          <a:spcPct val="0"/>
        </a:spcBef>
        <a:spcAft>
          <a:spcPct val="0"/>
        </a:spcAft>
        <a:defRPr sz="2200">
          <a:solidFill>
            <a:schemeClr val="bg1"/>
          </a:solidFill>
          <a:latin typeface="Arial" charset="0"/>
        </a:defRPr>
      </a:lvl6pPr>
      <a:lvl7pPr marL="914400" algn="r" rtl="0" eaLnBrk="1" fontAlgn="base" hangingPunct="1">
        <a:spcBef>
          <a:spcPct val="0"/>
        </a:spcBef>
        <a:spcAft>
          <a:spcPct val="0"/>
        </a:spcAft>
        <a:defRPr sz="2200">
          <a:solidFill>
            <a:schemeClr val="bg1"/>
          </a:solidFill>
          <a:latin typeface="Arial" charset="0"/>
        </a:defRPr>
      </a:lvl7pPr>
      <a:lvl8pPr marL="1371600" algn="r" rtl="0" eaLnBrk="1" fontAlgn="base" hangingPunct="1">
        <a:spcBef>
          <a:spcPct val="0"/>
        </a:spcBef>
        <a:spcAft>
          <a:spcPct val="0"/>
        </a:spcAft>
        <a:defRPr sz="2200">
          <a:solidFill>
            <a:schemeClr val="bg1"/>
          </a:solidFill>
          <a:latin typeface="Arial" charset="0"/>
        </a:defRPr>
      </a:lvl8pPr>
      <a:lvl9pPr marL="1828800" algn="r" rtl="0" eaLnBrk="1" fontAlgn="base" hangingPunct="1">
        <a:spcBef>
          <a:spcPct val="0"/>
        </a:spcBef>
        <a:spcAft>
          <a:spcPct val="0"/>
        </a:spcAft>
        <a:defRPr sz="2200">
          <a:solidFill>
            <a:schemeClr val="bg1"/>
          </a:solidFill>
          <a:latin typeface="Arial" charset="0"/>
        </a:defRPr>
      </a:lvl9pPr>
    </p:titleStyle>
    <p:bodyStyle>
      <a:lvl1pPr marL="176213" indent="-176213" algn="l" rtl="0" eaLnBrk="1" fontAlgn="base" hangingPunct="1">
        <a:spcBef>
          <a:spcPts val="1400"/>
        </a:spcBef>
        <a:spcAft>
          <a:spcPct val="0"/>
        </a:spcAft>
        <a:buClr>
          <a:srgbClr val="005195"/>
        </a:buClr>
        <a:buChar char="•"/>
        <a:defRPr sz="2000">
          <a:solidFill>
            <a:schemeClr val="tx1"/>
          </a:solidFill>
          <a:latin typeface="+mn-lt"/>
          <a:ea typeface="+mn-ea"/>
          <a:cs typeface="+mn-cs"/>
        </a:defRPr>
      </a:lvl1pPr>
      <a:lvl2pPr marL="519113" indent="-201613" algn="l" rtl="0" eaLnBrk="1" fontAlgn="base" hangingPunct="1">
        <a:spcBef>
          <a:spcPct val="0"/>
        </a:spcBef>
        <a:spcAft>
          <a:spcPct val="0"/>
        </a:spcAft>
        <a:buClr>
          <a:srgbClr val="005195"/>
        </a:buClr>
        <a:buChar char="–"/>
        <a:defRPr sz="1600">
          <a:solidFill>
            <a:schemeClr val="tx1"/>
          </a:solidFill>
          <a:latin typeface="+mn-lt"/>
        </a:defRPr>
      </a:lvl2pPr>
      <a:lvl3pPr marL="803275" indent="-141288" algn="l" rtl="0" eaLnBrk="1" fontAlgn="base" hangingPunct="1">
        <a:spcBef>
          <a:spcPct val="0"/>
        </a:spcBef>
        <a:spcAft>
          <a:spcPct val="0"/>
        </a:spcAft>
        <a:buClr>
          <a:srgbClr val="005195"/>
        </a:buClr>
        <a:buFont typeface="Arial" charset="0"/>
        <a:buChar char="»"/>
        <a:defRPr sz="1400">
          <a:solidFill>
            <a:schemeClr val="tx1"/>
          </a:solidFill>
          <a:latin typeface="+mn-lt"/>
        </a:defRPr>
      </a:lvl3pPr>
      <a:lvl4pPr marL="1143000" indent="-171450" algn="l" rtl="0" eaLnBrk="1" fontAlgn="base" hangingPunct="1">
        <a:spcBef>
          <a:spcPts val="0"/>
        </a:spcBef>
        <a:spcAft>
          <a:spcPct val="0"/>
        </a:spcAft>
        <a:buClr>
          <a:srgbClr val="005195"/>
        </a:buClr>
        <a:buChar char="–"/>
        <a:defRPr sz="1200" baseline="0">
          <a:solidFill>
            <a:schemeClr val="tx1"/>
          </a:solidFill>
          <a:latin typeface="+mn-lt"/>
        </a:defRPr>
      </a:lvl4pPr>
      <a:lvl5pPr marL="1371600" indent="-111125" algn="l" rtl="0" eaLnBrk="1" fontAlgn="base" hangingPunct="1">
        <a:spcBef>
          <a:spcPts val="0"/>
        </a:spcBef>
        <a:spcAft>
          <a:spcPct val="0"/>
        </a:spcAft>
        <a:buClr>
          <a:srgbClr val="005195"/>
        </a:buClr>
        <a:buChar char="»"/>
        <a:defRPr sz="11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ustomXml" Target="../ink/ink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customXml" Target="../ink/ink5.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5812" y="1111250"/>
            <a:ext cx="4312444" cy="2920750"/>
          </a:xfrm>
        </p:spPr>
        <p:txBody>
          <a:bodyPr anchor="ctr" anchorCtr="0"/>
          <a:lstStyle/>
          <a:p>
            <a:r>
              <a:rPr lang="en-US"/>
              <a:t>Label Generation and Zebra Programming Language (ZPL) for Manhattan SCALE™</a:t>
            </a:r>
          </a:p>
        </p:txBody>
      </p:sp>
      <p:sp>
        <p:nvSpPr>
          <p:cNvPr id="3" name="Subtitle 2"/>
          <p:cNvSpPr>
            <a:spLocks noGrp="1"/>
          </p:cNvSpPr>
          <p:nvPr>
            <p:ph type="subTitle" idx="1"/>
          </p:nvPr>
        </p:nvSpPr>
        <p:spPr>
          <a:xfrm>
            <a:off x="5647532" y="1233488"/>
            <a:ext cx="3146424" cy="2800350"/>
          </a:xfrm>
        </p:spPr>
        <p:txBody>
          <a:bodyPr anchor="ctr" anchorCtr="0"/>
          <a:lstStyle/>
          <a:p>
            <a:r>
              <a:rPr lang="en-US"/>
              <a:t>Jake Reid	</a:t>
            </a:r>
          </a:p>
          <a:p>
            <a:r>
              <a:rPr lang="en-US" sz="1200"/>
              <a:t>Consultant – PSO</a:t>
            </a:r>
          </a:p>
          <a:p>
            <a:endParaRPr lang="en-US" sz="1200"/>
          </a:p>
        </p:txBody>
      </p:sp>
    </p:spTree>
    <p:extLst>
      <p:ext uri="{BB962C8B-B14F-4D97-AF65-F5344CB8AC3E}">
        <p14:creationId xmlns:p14="http://schemas.microsoft.com/office/powerpoint/2010/main" val="251248005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33BC3-B0A5-4EFD-A98F-AE29C952C700}"/>
              </a:ext>
            </a:extLst>
          </p:cNvPr>
          <p:cNvSpPr>
            <a:spLocks noGrp="1"/>
          </p:cNvSpPr>
          <p:nvPr>
            <p:ph type="title"/>
          </p:nvPr>
        </p:nvSpPr>
        <p:spPr>
          <a:xfrm>
            <a:off x="138400" y="664220"/>
            <a:ext cx="8520113" cy="300037"/>
          </a:xfrm>
        </p:spPr>
        <p:txBody>
          <a:bodyPr/>
          <a:lstStyle/>
          <a:p>
            <a:r>
              <a:rPr lang="en-US"/>
              <a:t>Slide Contents</a:t>
            </a:r>
          </a:p>
        </p:txBody>
      </p:sp>
      <p:sp>
        <p:nvSpPr>
          <p:cNvPr id="3" name="Content Placeholder 2">
            <a:extLst>
              <a:ext uri="{FF2B5EF4-FFF2-40B4-BE49-F238E27FC236}">
                <a16:creationId xmlns:a16="http://schemas.microsoft.com/office/drawing/2014/main" id="{30EEF9FE-61EA-483C-AE32-D4C7601047CB}"/>
              </a:ext>
            </a:extLst>
          </p:cNvPr>
          <p:cNvSpPr>
            <a:spLocks noGrp="1"/>
          </p:cNvSpPr>
          <p:nvPr>
            <p:ph idx="1"/>
          </p:nvPr>
        </p:nvSpPr>
        <p:spPr>
          <a:xfrm>
            <a:off x="2414533" y="1872648"/>
            <a:ext cx="3683660" cy="3271674"/>
          </a:xfrm>
        </p:spPr>
        <p:txBody>
          <a:bodyPr/>
          <a:lstStyle/>
          <a:p>
            <a:r>
              <a:rPr lang="en-US"/>
              <a:t>Basic label introduction</a:t>
            </a:r>
          </a:p>
          <a:p>
            <a:r>
              <a:rPr lang="en-US"/>
              <a:t>Label Types</a:t>
            </a:r>
          </a:p>
          <a:p>
            <a:r>
              <a:rPr lang="en-US"/>
              <a:t>Document Configurations</a:t>
            </a:r>
          </a:p>
          <a:p>
            <a:r>
              <a:rPr lang="en-US"/>
              <a:t>ZPL</a:t>
            </a:r>
          </a:p>
          <a:p>
            <a:r>
              <a:rPr lang="en-US"/>
              <a:t>Examples</a:t>
            </a:r>
          </a:p>
          <a:p>
            <a:r>
              <a:rPr lang="en-US"/>
              <a:t>Resources</a:t>
            </a:r>
          </a:p>
          <a:p>
            <a:endParaRPr lang="en-US"/>
          </a:p>
        </p:txBody>
      </p:sp>
      <p:cxnSp>
        <p:nvCxnSpPr>
          <p:cNvPr id="5" name="Straight Connector 4">
            <a:extLst>
              <a:ext uri="{FF2B5EF4-FFF2-40B4-BE49-F238E27FC236}">
                <a16:creationId xmlns:a16="http://schemas.microsoft.com/office/drawing/2014/main" id="{3A139F6B-5798-41ED-9C33-1177F34F8125}"/>
              </a:ext>
            </a:extLst>
          </p:cNvPr>
          <p:cNvCxnSpPr/>
          <p:nvPr/>
        </p:nvCxnSpPr>
        <p:spPr bwMode="auto">
          <a:xfrm>
            <a:off x="2085359" y="1809065"/>
            <a:ext cx="0" cy="2894504"/>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9798081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Custom Label Generation with SCALE 2021</a:t>
            </a:r>
          </a:p>
        </p:txBody>
      </p:sp>
    </p:spTree>
    <p:extLst>
      <p:ext uri="{BB962C8B-B14F-4D97-AF65-F5344CB8AC3E}">
        <p14:creationId xmlns:p14="http://schemas.microsoft.com/office/powerpoint/2010/main" val="200353423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application&#10;&#10;Description automatically generated">
            <a:extLst>
              <a:ext uri="{FF2B5EF4-FFF2-40B4-BE49-F238E27FC236}">
                <a16:creationId xmlns:a16="http://schemas.microsoft.com/office/drawing/2014/main" id="{74B49135-9BB5-4222-8B86-1DCFCB71AA06}"/>
              </a:ext>
            </a:extLst>
          </p:cNvPr>
          <p:cNvPicPr>
            <a:picLocks noGrp="1" noChangeAspect="1"/>
          </p:cNvPicPr>
          <p:nvPr>
            <p:ph idx="1"/>
          </p:nvPr>
        </p:nvPicPr>
        <p:blipFill>
          <a:blip r:embed="rId2"/>
          <a:stretch>
            <a:fillRect/>
          </a:stretch>
        </p:blipFill>
        <p:spPr>
          <a:xfrm>
            <a:off x="3874688" y="1105121"/>
            <a:ext cx="5106168" cy="4647758"/>
          </a:xfrm>
        </p:spPr>
      </p:pic>
      <p:sp>
        <p:nvSpPr>
          <p:cNvPr id="6" name="Content Placeholder 2">
            <a:extLst>
              <a:ext uri="{FF2B5EF4-FFF2-40B4-BE49-F238E27FC236}">
                <a16:creationId xmlns:a16="http://schemas.microsoft.com/office/drawing/2014/main" id="{78D8706A-8939-476E-92D5-8CE1EF7C522E}"/>
              </a:ext>
            </a:extLst>
          </p:cNvPr>
          <p:cNvSpPr txBox="1">
            <a:spLocks/>
          </p:cNvSpPr>
          <p:nvPr/>
        </p:nvSpPr>
        <p:spPr bwMode="auto">
          <a:xfrm>
            <a:off x="572347" y="1709700"/>
            <a:ext cx="2953685" cy="30201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76213" indent="-176213" algn="l" rtl="0" eaLnBrk="1" fontAlgn="base" hangingPunct="1">
              <a:spcBef>
                <a:spcPts val="1400"/>
              </a:spcBef>
              <a:spcAft>
                <a:spcPct val="0"/>
              </a:spcAft>
              <a:buClr>
                <a:srgbClr val="005195"/>
              </a:buClr>
              <a:buChar char="•"/>
              <a:defRPr sz="2000">
                <a:solidFill>
                  <a:schemeClr val="tx1"/>
                </a:solidFill>
                <a:latin typeface="+mn-lt"/>
                <a:ea typeface="+mn-ea"/>
                <a:cs typeface="+mn-cs"/>
              </a:defRPr>
            </a:lvl1pPr>
            <a:lvl2pPr marL="519113" indent="-201613" algn="l" rtl="0" eaLnBrk="1" fontAlgn="base" hangingPunct="1">
              <a:spcBef>
                <a:spcPct val="0"/>
              </a:spcBef>
              <a:spcAft>
                <a:spcPct val="0"/>
              </a:spcAft>
              <a:buClr>
                <a:srgbClr val="005195"/>
              </a:buClr>
              <a:buChar char="–"/>
              <a:defRPr sz="1600">
                <a:solidFill>
                  <a:schemeClr val="tx1"/>
                </a:solidFill>
                <a:latin typeface="+mn-lt"/>
              </a:defRPr>
            </a:lvl2pPr>
            <a:lvl3pPr marL="803275" indent="-141288" algn="l" rtl="0" eaLnBrk="1" fontAlgn="base" hangingPunct="1">
              <a:spcBef>
                <a:spcPct val="0"/>
              </a:spcBef>
              <a:spcAft>
                <a:spcPct val="0"/>
              </a:spcAft>
              <a:buClr>
                <a:schemeClr val="accent2"/>
              </a:buClr>
              <a:buFont typeface="Arial" pitchFamily="34" charset="0"/>
              <a:buChar char="»"/>
              <a:defRPr sz="1400">
                <a:solidFill>
                  <a:schemeClr val="tx1"/>
                </a:solidFill>
                <a:latin typeface="+mn-lt"/>
              </a:defRPr>
            </a:lvl3pPr>
            <a:lvl4pPr marL="1143000" indent="-171450" algn="l" rtl="0" eaLnBrk="1" fontAlgn="base" hangingPunct="1">
              <a:spcBef>
                <a:spcPts val="0"/>
              </a:spcBef>
              <a:spcAft>
                <a:spcPct val="0"/>
              </a:spcAft>
              <a:buClr>
                <a:schemeClr val="accent2"/>
              </a:buClr>
              <a:buChar char="–"/>
              <a:defRPr sz="1200" baseline="0">
                <a:solidFill>
                  <a:schemeClr val="tx1"/>
                </a:solidFill>
                <a:latin typeface="+mn-lt"/>
              </a:defRPr>
            </a:lvl4pPr>
            <a:lvl5pPr marL="1371600" indent="-107950" algn="l" rtl="0" eaLnBrk="1" fontAlgn="base" hangingPunct="1">
              <a:spcBef>
                <a:spcPts val="0"/>
              </a:spcBef>
              <a:spcAft>
                <a:spcPct val="0"/>
              </a:spcAft>
              <a:buClr>
                <a:schemeClr val="accent2"/>
              </a:buClr>
              <a:buChar char="»"/>
              <a:defRPr sz="11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kern="0"/>
              <a:t>The document field represents the document that you want the system to produce. All documents must be defined in the system under “document”.</a:t>
            </a:r>
          </a:p>
        </p:txBody>
      </p:sp>
      <p:sp>
        <p:nvSpPr>
          <p:cNvPr id="7" name="Title 1">
            <a:extLst>
              <a:ext uri="{FF2B5EF4-FFF2-40B4-BE49-F238E27FC236}">
                <a16:creationId xmlns:a16="http://schemas.microsoft.com/office/drawing/2014/main" id="{9B1F2846-9E7D-4776-941F-844A580CE6A7}"/>
              </a:ext>
            </a:extLst>
          </p:cNvPr>
          <p:cNvSpPr txBox="1">
            <a:spLocks/>
          </p:cNvSpPr>
          <p:nvPr/>
        </p:nvSpPr>
        <p:spPr bwMode="auto">
          <a:xfrm>
            <a:off x="311943" y="613025"/>
            <a:ext cx="8520113" cy="3000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sz="2200" b="1">
                <a:solidFill>
                  <a:schemeClr val="accent2"/>
                </a:solidFill>
                <a:latin typeface="+mj-lt"/>
                <a:ea typeface="+mj-ea"/>
                <a:cs typeface="+mj-cs"/>
              </a:defRPr>
            </a:lvl1pPr>
            <a:lvl2pPr algn="l" rtl="0" eaLnBrk="1" fontAlgn="base" hangingPunct="1">
              <a:spcBef>
                <a:spcPct val="0"/>
              </a:spcBef>
              <a:spcAft>
                <a:spcPct val="0"/>
              </a:spcAft>
              <a:defRPr sz="2200">
                <a:solidFill>
                  <a:srgbClr val="9FA617"/>
                </a:solidFill>
                <a:latin typeface="Arial" charset="0"/>
              </a:defRPr>
            </a:lvl2pPr>
            <a:lvl3pPr algn="l" rtl="0" eaLnBrk="1" fontAlgn="base" hangingPunct="1">
              <a:spcBef>
                <a:spcPct val="0"/>
              </a:spcBef>
              <a:spcAft>
                <a:spcPct val="0"/>
              </a:spcAft>
              <a:defRPr sz="2200">
                <a:solidFill>
                  <a:srgbClr val="9FA617"/>
                </a:solidFill>
                <a:latin typeface="Arial" charset="0"/>
              </a:defRPr>
            </a:lvl3pPr>
            <a:lvl4pPr algn="l" rtl="0" eaLnBrk="1" fontAlgn="base" hangingPunct="1">
              <a:spcBef>
                <a:spcPct val="0"/>
              </a:spcBef>
              <a:spcAft>
                <a:spcPct val="0"/>
              </a:spcAft>
              <a:defRPr sz="2200">
                <a:solidFill>
                  <a:srgbClr val="9FA617"/>
                </a:solidFill>
                <a:latin typeface="Arial" charset="0"/>
              </a:defRPr>
            </a:lvl4pPr>
            <a:lvl5pPr algn="l" rtl="0" eaLnBrk="1" fontAlgn="base" hangingPunct="1">
              <a:spcBef>
                <a:spcPct val="0"/>
              </a:spcBef>
              <a:spcAft>
                <a:spcPct val="0"/>
              </a:spcAft>
              <a:defRPr sz="2200">
                <a:solidFill>
                  <a:srgbClr val="9FA617"/>
                </a:solidFill>
                <a:latin typeface="Arial" charset="0"/>
              </a:defRPr>
            </a:lvl5pPr>
            <a:lvl6pPr marL="457200" algn="r" rtl="0" eaLnBrk="1" fontAlgn="base" hangingPunct="1">
              <a:spcBef>
                <a:spcPct val="0"/>
              </a:spcBef>
              <a:spcAft>
                <a:spcPct val="0"/>
              </a:spcAft>
              <a:defRPr sz="2200">
                <a:solidFill>
                  <a:schemeClr val="bg1"/>
                </a:solidFill>
                <a:latin typeface="Arial" charset="0"/>
              </a:defRPr>
            </a:lvl6pPr>
            <a:lvl7pPr marL="914400" algn="r" rtl="0" eaLnBrk="1" fontAlgn="base" hangingPunct="1">
              <a:spcBef>
                <a:spcPct val="0"/>
              </a:spcBef>
              <a:spcAft>
                <a:spcPct val="0"/>
              </a:spcAft>
              <a:defRPr sz="2200">
                <a:solidFill>
                  <a:schemeClr val="bg1"/>
                </a:solidFill>
                <a:latin typeface="Arial" charset="0"/>
              </a:defRPr>
            </a:lvl7pPr>
            <a:lvl8pPr marL="1371600" algn="r" rtl="0" eaLnBrk="1" fontAlgn="base" hangingPunct="1">
              <a:spcBef>
                <a:spcPct val="0"/>
              </a:spcBef>
              <a:spcAft>
                <a:spcPct val="0"/>
              </a:spcAft>
              <a:defRPr sz="2200">
                <a:solidFill>
                  <a:schemeClr val="bg1"/>
                </a:solidFill>
                <a:latin typeface="Arial" charset="0"/>
              </a:defRPr>
            </a:lvl8pPr>
            <a:lvl9pPr marL="1828800" algn="r" rtl="0" eaLnBrk="1" fontAlgn="base" hangingPunct="1">
              <a:spcBef>
                <a:spcPct val="0"/>
              </a:spcBef>
              <a:spcAft>
                <a:spcPct val="0"/>
              </a:spcAft>
              <a:defRPr sz="2200">
                <a:solidFill>
                  <a:schemeClr val="bg1"/>
                </a:solidFill>
                <a:latin typeface="Arial" charset="0"/>
              </a:defRPr>
            </a:lvl9pPr>
          </a:lstStyle>
          <a:p>
            <a:r>
              <a:rPr lang="en-US" kern="0"/>
              <a:t>Document Configuration</a:t>
            </a:r>
          </a:p>
        </p:txBody>
      </p:sp>
    </p:spTree>
    <p:extLst>
      <p:ext uri="{BB962C8B-B14F-4D97-AF65-F5344CB8AC3E}">
        <p14:creationId xmlns:p14="http://schemas.microsoft.com/office/powerpoint/2010/main" val="235314721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AD116-CE74-47C1-85FD-64910BBE5DB3}"/>
              </a:ext>
            </a:extLst>
          </p:cNvPr>
          <p:cNvSpPr>
            <a:spLocks noGrp="1"/>
          </p:cNvSpPr>
          <p:nvPr>
            <p:ph type="title"/>
          </p:nvPr>
        </p:nvSpPr>
        <p:spPr>
          <a:xfrm>
            <a:off x="138400" y="578701"/>
            <a:ext cx="8520113" cy="300037"/>
          </a:xfrm>
        </p:spPr>
        <p:txBody>
          <a:bodyPr/>
          <a:lstStyle/>
          <a:p>
            <a:r>
              <a:rPr lang="en-US" kern="0"/>
              <a:t>Document Type Configuration</a:t>
            </a:r>
            <a:br>
              <a:rPr lang="en-US" kern="0"/>
            </a:br>
            <a:endParaRPr lang="en-US"/>
          </a:p>
        </p:txBody>
      </p:sp>
      <p:sp>
        <p:nvSpPr>
          <p:cNvPr id="3" name="Content Placeholder 2">
            <a:extLst>
              <a:ext uri="{FF2B5EF4-FFF2-40B4-BE49-F238E27FC236}">
                <a16:creationId xmlns:a16="http://schemas.microsoft.com/office/drawing/2014/main" id="{956E6D24-84CF-458B-A8FB-D82135DD1E85}"/>
              </a:ext>
            </a:extLst>
          </p:cNvPr>
          <p:cNvSpPr>
            <a:spLocks noGrp="1"/>
          </p:cNvSpPr>
          <p:nvPr>
            <p:ph idx="1"/>
          </p:nvPr>
        </p:nvSpPr>
        <p:spPr>
          <a:xfrm>
            <a:off x="138400" y="1655016"/>
            <a:ext cx="3420524" cy="3547967"/>
          </a:xfrm>
        </p:spPr>
        <p:txBody>
          <a:bodyPr/>
          <a:lstStyle/>
          <a:p>
            <a:r>
              <a:rPr lang="en-US" kern="0"/>
              <a:t>Identifies the document as either a paper or label document. The </a:t>
            </a:r>
            <a:r>
              <a:rPr lang="en-US"/>
              <a:t>document type required can be ‘s</a:t>
            </a:r>
            <a:r>
              <a:rPr lang="en-US" kern="0"/>
              <a:t>hipping</a:t>
            </a:r>
            <a:r>
              <a:rPr lang="en-US"/>
              <a:t>’</a:t>
            </a:r>
            <a:r>
              <a:rPr lang="en-US" kern="0"/>
              <a:t> or ‘vendor’ for custom labels. All documents must be associated with a document type located under “document type” within configurations.</a:t>
            </a:r>
          </a:p>
          <a:p>
            <a:endParaRPr lang="en-US"/>
          </a:p>
        </p:txBody>
      </p:sp>
      <p:pic>
        <p:nvPicPr>
          <p:cNvPr id="5" name="Picture 4">
            <a:extLst>
              <a:ext uri="{FF2B5EF4-FFF2-40B4-BE49-F238E27FC236}">
                <a16:creationId xmlns:a16="http://schemas.microsoft.com/office/drawing/2014/main" id="{C5D4C75E-354C-4995-A65F-F5EC9BC9218F}"/>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3671191" y="1306905"/>
            <a:ext cx="5111385" cy="4501838"/>
          </a:xfrm>
          <a:prstGeom prst="rect">
            <a:avLst/>
          </a:prstGeom>
        </p:spPr>
      </p:pic>
    </p:spTree>
    <p:extLst>
      <p:ext uri="{BB962C8B-B14F-4D97-AF65-F5344CB8AC3E}">
        <p14:creationId xmlns:p14="http://schemas.microsoft.com/office/powerpoint/2010/main" val="381917000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E3321-13F3-46F3-B39F-66A4F56E7F3B}"/>
              </a:ext>
            </a:extLst>
          </p:cNvPr>
          <p:cNvSpPr>
            <a:spLocks noGrp="1"/>
          </p:cNvSpPr>
          <p:nvPr>
            <p:ph type="title"/>
          </p:nvPr>
        </p:nvSpPr>
        <p:spPr>
          <a:xfrm>
            <a:off x="138400" y="642937"/>
            <a:ext cx="8520113" cy="300037"/>
          </a:xfrm>
        </p:spPr>
        <p:txBody>
          <a:bodyPr/>
          <a:lstStyle/>
          <a:p>
            <a:r>
              <a:rPr lang="en-US" kern="0"/>
              <a:t>Document Routing Configuration</a:t>
            </a:r>
            <a:br>
              <a:rPr lang="en-US" kern="0"/>
            </a:br>
            <a:endParaRPr lang="en-US"/>
          </a:p>
        </p:txBody>
      </p:sp>
      <p:sp>
        <p:nvSpPr>
          <p:cNvPr id="3" name="Content Placeholder 2">
            <a:extLst>
              <a:ext uri="{FF2B5EF4-FFF2-40B4-BE49-F238E27FC236}">
                <a16:creationId xmlns:a16="http://schemas.microsoft.com/office/drawing/2014/main" id="{F07C4358-20AE-45DB-A761-4180E5DC1AB2}"/>
              </a:ext>
            </a:extLst>
          </p:cNvPr>
          <p:cNvSpPr>
            <a:spLocks noGrp="1"/>
          </p:cNvSpPr>
          <p:nvPr>
            <p:ph idx="1"/>
          </p:nvPr>
        </p:nvSpPr>
        <p:spPr/>
        <p:txBody>
          <a:bodyPr/>
          <a:lstStyle/>
          <a:p>
            <a:r>
              <a:rPr lang="en-US"/>
              <a:t>After you define a document, you need to provide its printing parameters on the Document Routing Window. The print parameters determine criteria such as: Ship to, Carrier, Container Class. Additionally, the routing determines number of copies, where the document is routed to, which document will be used, and what machine the document will print from.</a:t>
            </a:r>
            <a:endParaRPr lang="en-US" kern="0"/>
          </a:p>
          <a:p>
            <a:pPr marL="0" indent="0">
              <a:buNone/>
            </a:pPr>
            <a:endParaRPr lang="en-US"/>
          </a:p>
        </p:txBody>
      </p:sp>
      <p:pic>
        <p:nvPicPr>
          <p:cNvPr id="5" name="Picture 4">
            <a:extLst>
              <a:ext uri="{FF2B5EF4-FFF2-40B4-BE49-F238E27FC236}">
                <a16:creationId xmlns:a16="http://schemas.microsoft.com/office/drawing/2014/main" id="{C88154EA-BA20-487E-9A96-EC59DE35874F}"/>
              </a:ext>
            </a:extLst>
          </p:cNvPr>
          <p:cNvPicPr>
            <a:picLocks noChangeAspect="1"/>
          </p:cNvPicPr>
          <p:nvPr/>
        </p:nvPicPr>
        <p:blipFill>
          <a:blip r:embed="rId2"/>
          <a:stretch>
            <a:fillRect/>
          </a:stretch>
        </p:blipFill>
        <p:spPr>
          <a:xfrm>
            <a:off x="354575" y="3038618"/>
            <a:ext cx="3292253" cy="3176445"/>
          </a:xfrm>
          <a:prstGeom prst="rect">
            <a:avLst/>
          </a:prstGeom>
        </p:spPr>
      </p:pic>
      <p:pic>
        <p:nvPicPr>
          <p:cNvPr id="9" name="Picture 8" descr="Graphical user interface, text&#10;&#10;Description automatically generated">
            <a:extLst>
              <a:ext uri="{FF2B5EF4-FFF2-40B4-BE49-F238E27FC236}">
                <a16:creationId xmlns:a16="http://schemas.microsoft.com/office/drawing/2014/main" id="{CDEF7421-D573-4E36-BAA5-D08A6D57D653}"/>
              </a:ext>
            </a:extLst>
          </p:cNvPr>
          <p:cNvPicPr>
            <a:picLocks noChangeAspect="1"/>
          </p:cNvPicPr>
          <p:nvPr/>
        </p:nvPicPr>
        <p:blipFill>
          <a:blip r:embed="rId3"/>
          <a:stretch>
            <a:fillRect/>
          </a:stretch>
        </p:blipFill>
        <p:spPr>
          <a:xfrm>
            <a:off x="5082072" y="3038618"/>
            <a:ext cx="3292254" cy="3159902"/>
          </a:xfrm>
          <a:prstGeom prst="rect">
            <a:avLst/>
          </a:prstGeom>
        </p:spPr>
      </p:pic>
    </p:spTree>
    <p:extLst>
      <p:ext uri="{BB962C8B-B14F-4D97-AF65-F5344CB8AC3E}">
        <p14:creationId xmlns:p14="http://schemas.microsoft.com/office/powerpoint/2010/main" val="368168730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Label Generation Requirements</a:t>
            </a:r>
          </a:p>
        </p:txBody>
      </p:sp>
      <p:sp>
        <p:nvSpPr>
          <p:cNvPr id="5" name="Content Placeholder 4"/>
          <p:cNvSpPr>
            <a:spLocks noGrp="1"/>
          </p:cNvSpPr>
          <p:nvPr>
            <p:ph idx="1"/>
          </p:nvPr>
        </p:nvSpPr>
        <p:spPr>
          <a:xfrm>
            <a:off x="541522" y="1288026"/>
            <a:ext cx="6144413" cy="4799218"/>
          </a:xfrm>
        </p:spPr>
        <p:txBody>
          <a:bodyPr/>
          <a:lstStyle/>
          <a:p>
            <a:r>
              <a:rPr lang="en-US"/>
              <a:t>Label file</a:t>
            </a:r>
          </a:p>
          <a:p>
            <a:pPr lvl="1"/>
            <a:r>
              <a:rPr lang="en-US"/>
              <a:t>Saved in the Manhattan install files - \ILS\Printing </a:t>
            </a:r>
          </a:p>
          <a:p>
            <a:r>
              <a:rPr lang="en-US"/>
              <a:t>Stored Procedure (some labels)</a:t>
            </a:r>
          </a:p>
          <a:p>
            <a:r>
              <a:rPr lang="en-US"/>
              <a:t>Document Type Configuration</a:t>
            </a:r>
          </a:p>
          <a:p>
            <a:r>
              <a:rPr lang="en-US"/>
              <a:t>Document Configuration</a:t>
            </a:r>
          </a:p>
          <a:p>
            <a:r>
              <a:rPr lang="en-US"/>
              <a:t>Document Routing Configuration</a:t>
            </a:r>
          </a:p>
          <a:p>
            <a:r>
              <a:rPr lang="en-US"/>
              <a:t>Wave Step: Documents – Labels (If printing during wave)</a:t>
            </a:r>
          </a:p>
          <a:p>
            <a:r>
              <a:rPr lang="en-US"/>
              <a:t>Label Printer – must be compatible with 203dpi</a:t>
            </a:r>
          </a:p>
          <a:p>
            <a:endParaRPr lang="en-US"/>
          </a:p>
        </p:txBody>
      </p:sp>
    </p:spTree>
    <p:extLst>
      <p:ext uri="{BB962C8B-B14F-4D97-AF65-F5344CB8AC3E}">
        <p14:creationId xmlns:p14="http://schemas.microsoft.com/office/powerpoint/2010/main" val="36121775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Label Types</a:t>
            </a:r>
          </a:p>
        </p:txBody>
      </p:sp>
      <p:sp>
        <p:nvSpPr>
          <p:cNvPr id="5" name="Content Placeholder 4"/>
          <p:cNvSpPr>
            <a:spLocks noGrp="1"/>
          </p:cNvSpPr>
          <p:nvPr>
            <p:ph idx="1"/>
          </p:nvPr>
        </p:nvSpPr>
        <p:spPr>
          <a:xfrm>
            <a:off x="541522" y="1288026"/>
            <a:ext cx="6144413" cy="4799218"/>
          </a:xfrm>
        </p:spPr>
        <p:txBody>
          <a:bodyPr/>
          <a:lstStyle/>
          <a:p>
            <a:r>
              <a:rPr lang="en-US"/>
              <a:t>Vendor Label</a:t>
            </a:r>
          </a:p>
          <a:p>
            <a:r>
              <a:rPr lang="en-US"/>
              <a:t>Shipping Label</a:t>
            </a:r>
          </a:p>
          <a:p>
            <a:r>
              <a:rPr lang="en-US"/>
              <a:t>Container Contents Label</a:t>
            </a:r>
          </a:p>
          <a:p>
            <a:r>
              <a:rPr lang="en-US"/>
              <a:t>Break Label</a:t>
            </a:r>
          </a:p>
          <a:p>
            <a:r>
              <a:rPr lang="en-US"/>
              <a:t>Receipt Container Label</a:t>
            </a:r>
          </a:p>
          <a:p>
            <a:endParaRPr lang="en-US"/>
          </a:p>
        </p:txBody>
      </p:sp>
    </p:spTree>
    <p:extLst>
      <p:ext uri="{BB962C8B-B14F-4D97-AF65-F5344CB8AC3E}">
        <p14:creationId xmlns:p14="http://schemas.microsoft.com/office/powerpoint/2010/main" val="424030104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Vendor Label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10804" y="1050000"/>
            <a:ext cx="3417580" cy="5092700"/>
          </a:xfrm>
        </p:spPr>
      </p:pic>
      <p:sp>
        <p:nvSpPr>
          <p:cNvPr id="5" name="Content Placeholder 2">
            <a:extLst>
              <a:ext uri="{FF2B5EF4-FFF2-40B4-BE49-F238E27FC236}">
                <a16:creationId xmlns:a16="http://schemas.microsoft.com/office/drawing/2014/main" id="{55F911E9-135E-4700-A9B8-BA35253713C1}"/>
              </a:ext>
            </a:extLst>
          </p:cNvPr>
          <p:cNvSpPr txBox="1">
            <a:spLocks/>
          </p:cNvSpPr>
          <p:nvPr/>
        </p:nvSpPr>
        <p:spPr bwMode="auto">
          <a:xfrm>
            <a:off x="618625" y="1050346"/>
            <a:ext cx="3190279" cy="50923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76213" indent="-176213" algn="l" rtl="0" eaLnBrk="1" fontAlgn="base" hangingPunct="1">
              <a:spcBef>
                <a:spcPts val="1400"/>
              </a:spcBef>
              <a:spcAft>
                <a:spcPct val="0"/>
              </a:spcAft>
              <a:buClr>
                <a:srgbClr val="005195"/>
              </a:buClr>
              <a:buChar char="•"/>
              <a:defRPr sz="2000">
                <a:solidFill>
                  <a:schemeClr val="tx1"/>
                </a:solidFill>
                <a:latin typeface="+mn-lt"/>
                <a:ea typeface="+mn-ea"/>
                <a:cs typeface="+mn-cs"/>
              </a:defRPr>
            </a:lvl1pPr>
            <a:lvl2pPr marL="519113" indent="-201613" algn="l" rtl="0" eaLnBrk="1" fontAlgn="base" hangingPunct="1">
              <a:spcBef>
                <a:spcPct val="0"/>
              </a:spcBef>
              <a:spcAft>
                <a:spcPct val="0"/>
              </a:spcAft>
              <a:buClr>
                <a:srgbClr val="005195"/>
              </a:buClr>
              <a:buChar char="–"/>
              <a:defRPr sz="1600">
                <a:solidFill>
                  <a:schemeClr val="tx1"/>
                </a:solidFill>
                <a:latin typeface="+mn-lt"/>
              </a:defRPr>
            </a:lvl2pPr>
            <a:lvl3pPr marL="803275" indent="-141288" algn="l" rtl="0" eaLnBrk="1" fontAlgn="base" hangingPunct="1">
              <a:spcBef>
                <a:spcPct val="0"/>
              </a:spcBef>
              <a:spcAft>
                <a:spcPct val="0"/>
              </a:spcAft>
              <a:buClr>
                <a:schemeClr val="accent2"/>
              </a:buClr>
              <a:buFont typeface="Arial" pitchFamily="34" charset="0"/>
              <a:buChar char="»"/>
              <a:defRPr sz="1400">
                <a:solidFill>
                  <a:schemeClr val="tx1"/>
                </a:solidFill>
                <a:latin typeface="+mn-lt"/>
              </a:defRPr>
            </a:lvl3pPr>
            <a:lvl4pPr marL="1143000" indent="-171450" algn="l" rtl="0" eaLnBrk="1" fontAlgn="base" hangingPunct="1">
              <a:spcBef>
                <a:spcPts val="0"/>
              </a:spcBef>
              <a:spcAft>
                <a:spcPct val="0"/>
              </a:spcAft>
              <a:buClr>
                <a:schemeClr val="accent2"/>
              </a:buClr>
              <a:buChar char="–"/>
              <a:defRPr sz="1200" baseline="0">
                <a:solidFill>
                  <a:schemeClr val="tx1"/>
                </a:solidFill>
                <a:latin typeface="+mn-lt"/>
              </a:defRPr>
            </a:lvl4pPr>
            <a:lvl5pPr marL="1371600" indent="-107950" algn="l" rtl="0" eaLnBrk="1" fontAlgn="base" hangingPunct="1">
              <a:spcBef>
                <a:spcPts val="0"/>
              </a:spcBef>
              <a:spcAft>
                <a:spcPct val="0"/>
              </a:spcAft>
              <a:buClr>
                <a:schemeClr val="accent2"/>
              </a:buClr>
              <a:buChar char="»"/>
              <a:defRPr sz="11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1550" kern="0"/>
              <a:t>A vendor compliant label is a container identification label that is compliant with the ship </a:t>
            </a:r>
            <a:r>
              <a:rPr lang="en-US" sz="1550" kern="0" err="1"/>
              <a:t>to's</a:t>
            </a:r>
            <a:r>
              <a:rPr lang="en-US" sz="1550" kern="0"/>
              <a:t> specifications. </a:t>
            </a:r>
          </a:p>
          <a:p>
            <a:r>
              <a:rPr lang="en-US" sz="1550" kern="0"/>
              <a:t>If you would like to print both a container contents label and a vendor compliant label from the wave, see the topic Container Contents &amp; Vendor Labels.</a:t>
            </a:r>
          </a:p>
          <a:p>
            <a:r>
              <a:rPr lang="en-US" sz="1550" kern="0"/>
              <a:t>Printers producing vendor compliant labels must be accessible through a network share. Please refer to the Printer Configuration Guide for more information. </a:t>
            </a:r>
          </a:p>
        </p:txBody>
      </p:sp>
    </p:spTree>
    <p:extLst>
      <p:ext uri="{BB962C8B-B14F-4D97-AF65-F5344CB8AC3E}">
        <p14:creationId xmlns:p14="http://schemas.microsoft.com/office/powerpoint/2010/main" val="9325922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Shipping Label</a:t>
            </a:r>
          </a:p>
        </p:txBody>
      </p:sp>
      <p:pic>
        <p:nvPicPr>
          <p:cNvPr id="4" name="Content Placeholder 3"/>
          <p:cNvPicPr>
            <a:picLocks noGrp="1" noChangeAspect="1"/>
          </p:cNvPicPr>
          <p:nvPr>
            <p:ph idx="1"/>
          </p:nvPr>
        </p:nvPicPr>
        <p:blipFill>
          <a:blip r:embed="rId3"/>
          <a:stretch>
            <a:fillRect/>
          </a:stretch>
        </p:blipFill>
        <p:spPr>
          <a:xfrm>
            <a:off x="4572000" y="1102627"/>
            <a:ext cx="3461518" cy="5092700"/>
          </a:xfrm>
          <a:prstGeom prst="rect">
            <a:avLst/>
          </a:prstGeom>
        </p:spPr>
      </p:pic>
      <p:sp>
        <p:nvSpPr>
          <p:cNvPr id="5" name="Content Placeholder 2">
            <a:extLst>
              <a:ext uri="{FF2B5EF4-FFF2-40B4-BE49-F238E27FC236}">
                <a16:creationId xmlns:a16="http://schemas.microsoft.com/office/drawing/2014/main" id="{B36B629D-7579-463F-AF12-37B01030092D}"/>
              </a:ext>
            </a:extLst>
          </p:cNvPr>
          <p:cNvSpPr txBox="1">
            <a:spLocks/>
          </p:cNvSpPr>
          <p:nvPr/>
        </p:nvSpPr>
        <p:spPr bwMode="auto">
          <a:xfrm>
            <a:off x="263390" y="1102973"/>
            <a:ext cx="3756023" cy="50923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76213" indent="-176213" algn="l" rtl="0" eaLnBrk="1" fontAlgn="base" hangingPunct="1">
              <a:spcBef>
                <a:spcPts val="1400"/>
              </a:spcBef>
              <a:spcAft>
                <a:spcPct val="0"/>
              </a:spcAft>
              <a:buClr>
                <a:srgbClr val="005195"/>
              </a:buClr>
              <a:buChar char="•"/>
              <a:defRPr sz="2000">
                <a:solidFill>
                  <a:schemeClr val="tx1"/>
                </a:solidFill>
                <a:latin typeface="+mn-lt"/>
                <a:ea typeface="+mn-ea"/>
                <a:cs typeface="+mn-cs"/>
              </a:defRPr>
            </a:lvl1pPr>
            <a:lvl2pPr marL="519113" indent="-201613" algn="l" rtl="0" eaLnBrk="1" fontAlgn="base" hangingPunct="1">
              <a:spcBef>
                <a:spcPct val="0"/>
              </a:spcBef>
              <a:spcAft>
                <a:spcPct val="0"/>
              </a:spcAft>
              <a:buClr>
                <a:srgbClr val="005195"/>
              </a:buClr>
              <a:buChar char="–"/>
              <a:defRPr sz="1600">
                <a:solidFill>
                  <a:schemeClr val="tx1"/>
                </a:solidFill>
                <a:latin typeface="+mn-lt"/>
              </a:defRPr>
            </a:lvl2pPr>
            <a:lvl3pPr marL="803275" indent="-141288" algn="l" rtl="0" eaLnBrk="1" fontAlgn="base" hangingPunct="1">
              <a:spcBef>
                <a:spcPct val="0"/>
              </a:spcBef>
              <a:spcAft>
                <a:spcPct val="0"/>
              </a:spcAft>
              <a:buClr>
                <a:schemeClr val="accent2"/>
              </a:buClr>
              <a:buFont typeface="Arial" pitchFamily="34" charset="0"/>
              <a:buChar char="»"/>
              <a:defRPr sz="1400">
                <a:solidFill>
                  <a:schemeClr val="tx1"/>
                </a:solidFill>
                <a:latin typeface="+mn-lt"/>
              </a:defRPr>
            </a:lvl3pPr>
            <a:lvl4pPr marL="1143000" indent="-171450" algn="l" rtl="0" eaLnBrk="1" fontAlgn="base" hangingPunct="1">
              <a:spcBef>
                <a:spcPts val="0"/>
              </a:spcBef>
              <a:spcAft>
                <a:spcPct val="0"/>
              </a:spcAft>
              <a:buClr>
                <a:schemeClr val="accent2"/>
              </a:buClr>
              <a:buChar char="–"/>
              <a:defRPr sz="1200" baseline="0">
                <a:solidFill>
                  <a:schemeClr val="tx1"/>
                </a:solidFill>
                <a:latin typeface="+mn-lt"/>
              </a:defRPr>
            </a:lvl4pPr>
            <a:lvl5pPr marL="1371600" indent="-107950" algn="l" rtl="0" eaLnBrk="1" fontAlgn="base" hangingPunct="1">
              <a:spcBef>
                <a:spcPts val="0"/>
              </a:spcBef>
              <a:spcAft>
                <a:spcPct val="0"/>
              </a:spcAft>
              <a:buClr>
                <a:schemeClr val="accent2"/>
              </a:buClr>
              <a:buChar char="»"/>
              <a:defRPr sz="11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kern="0"/>
              <a:t>A shipping label is used for carrier shipping purposes to identify a shipping container. It includes ship from and ship to information. The system automatically generates shipping labels during container packing and container manifesting. Note that if the shipping container is associated with a company, the system uses the company's name and address as the ship from values on this label.</a:t>
            </a:r>
          </a:p>
        </p:txBody>
      </p:sp>
    </p:spTree>
    <p:extLst>
      <p:ext uri="{BB962C8B-B14F-4D97-AF65-F5344CB8AC3E}">
        <p14:creationId xmlns:p14="http://schemas.microsoft.com/office/powerpoint/2010/main" val="215343581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Container Contents Label</a:t>
            </a:r>
          </a:p>
        </p:txBody>
      </p:sp>
      <p:pic>
        <p:nvPicPr>
          <p:cNvPr id="4" name="Picture 3"/>
          <p:cNvPicPr>
            <a:picLocks noChangeAspect="1"/>
          </p:cNvPicPr>
          <p:nvPr/>
        </p:nvPicPr>
        <p:blipFill>
          <a:blip r:embed="rId2"/>
          <a:stretch>
            <a:fillRect/>
          </a:stretch>
        </p:blipFill>
        <p:spPr>
          <a:xfrm>
            <a:off x="5050614" y="838200"/>
            <a:ext cx="3476625" cy="5181600"/>
          </a:xfrm>
          <a:prstGeom prst="rect">
            <a:avLst/>
          </a:prstGeom>
        </p:spPr>
      </p:pic>
      <p:sp>
        <p:nvSpPr>
          <p:cNvPr id="5" name="Content Placeholder 2">
            <a:extLst>
              <a:ext uri="{FF2B5EF4-FFF2-40B4-BE49-F238E27FC236}">
                <a16:creationId xmlns:a16="http://schemas.microsoft.com/office/drawing/2014/main" id="{914994DF-F77E-4A6A-A552-A4AE0776B595}"/>
              </a:ext>
            </a:extLst>
          </p:cNvPr>
          <p:cNvSpPr>
            <a:spLocks noGrp="1"/>
          </p:cNvSpPr>
          <p:nvPr>
            <p:ph idx="1"/>
          </p:nvPr>
        </p:nvSpPr>
        <p:spPr>
          <a:xfrm>
            <a:off x="138400" y="1122709"/>
            <a:ext cx="3617875" cy="5092354"/>
          </a:xfrm>
        </p:spPr>
        <p:txBody>
          <a:bodyPr/>
          <a:lstStyle/>
          <a:p>
            <a:r>
              <a:rPr lang="en-US"/>
              <a:t>A container contents label identifies the items packed into a specific container. This label also includes such data as the item location, quantity, and basic shipment information. Container contents labels can be automatically printed during the container creation wave step. You can also manually print this label in the Shipping Container Insight (once the container has been packed). </a:t>
            </a:r>
          </a:p>
        </p:txBody>
      </p:sp>
    </p:spTree>
    <p:extLst>
      <p:ext uri="{BB962C8B-B14F-4D97-AF65-F5344CB8AC3E}">
        <p14:creationId xmlns:p14="http://schemas.microsoft.com/office/powerpoint/2010/main" val="372306305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Break Label</a:t>
            </a:r>
          </a:p>
        </p:txBody>
      </p:sp>
      <p:pic>
        <p:nvPicPr>
          <p:cNvPr id="4" name="Content Placeholder 3"/>
          <p:cNvPicPr>
            <a:picLocks noGrp="1" noChangeAspect="1"/>
          </p:cNvPicPr>
          <p:nvPr>
            <p:ph idx="1"/>
          </p:nvPr>
        </p:nvPicPr>
        <p:blipFill>
          <a:blip r:embed="rId2"/>
          <a:stretch>
            <a:fillRect/>
          </a:stretch>
        </p:blipFill>
        <p:spPr>
          <a:xfrm>
            <a:off x="4881910" y="794695"/>
            <a:ext cx="3598141" cy="5295378"/>
          </a:xfrm>
          <a:prstGeom prst="rect">
            <a:avLst/>
          </a:prstGeom>
        </p:spPr>
      </p:pic>
      <p:sp>
        <p:nvSpPr>
          <p:cNvPr id="5" name="Content Placeholder 2">
            <a:extLst>
              <a:ext uri="{FF2B5EF4-FFF2-40B4-BE49-F238E27FC236}">
                <a16:creationId xmlns:a16="http://schemas.microsoft.com/office/drawing/2014/main" id="{53038743-5A88-4FCC-889C-02DF3B5BCD00}"/>
              </a:ext>
            </a:extLst>
          </p:cNvPr>
          <p:cNvSpPr txBox="1">
            <a:spLocks/>
          </p:cNvSpPr>
          <p:nvPr/>
        </p:nvSpPr>
        <p:spPr bwMode="auto">
          <a:xfrm>
            <a:off x="138400" y="1122709"/>
            <a:ext cx="3598141" cy="50923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76213" indent="-176213" algn="l" rtl="0" eaLnBrk="1" fontAlgn="base" hangingPunct="1">
              <a:spcBef>
                <a:spcPts val="1400"/>
              </a:spcBef>
              <a:spcAft>
                <a:spcPct val="0"/>
              </a:spcAft>
              <a:buClr>
                <a:srgbClr val="005195"/>
              </a:buClr>
              <a:buChar char="•"/>
              <a:defRPr sz="2000">
                <a:solidFill>
                  <a:schemeClr val="tx1"/>
                </a:solidFill>
                <a:latin typeface="+mn-lt"/>
                <a:ea typeface="+mn-ea"/>
                <a:cs typeface="+mn-cs"/>
              </a:defRPr>
            </a:lvl1pPr>
            <a:lvl2pPr marL="519113" indent="-201613" algn="l" rtl="0" eaLnBrk="1" fontAlgn="base" hangingPunct="1">
              <a:spcBef>
                <a:spcPct val="0"/>
              </a:spcBef>
              <a:spcAft>
                <a:spcPct val="0"/>
              </a:spcAft>
              <a:buClr>
                <a:srgbClr val="005195"/>
              </a:buClr>
              <a:buChar char="–"/>
              <a:defRPr sz="1600">
                <a:solidFill>
                  <a:schemeClr val="tx1"/>
                </a:solidFill>
                <a:latin typeface="+mn-lt"/>
              </a:defRPr>
            </a:lvl2pPr>
            <a:lvl3pPr marL="803275" indent="-141288" algn="l" rtl="0" eaLnBrk="1" fontAlgn="base" hangingPunct="1">
              <a:spcBef>
                <a:spcPct val="0"/>
              </a:spcBef>
              <a:spcAft>
                <a:spcPct val="0"/>
              </a:spcAft>
              <a:buClr>
                <a:schemeClr val="accent2"/>
              </a:buClr>
              <a:buFont typeface="Arial" pitchFamily="34" charset="0"/>
              <a:buChar char="»"/>
              <a:defRPr sz="1400">
                <a:solidFill>
                  <a:schemeClr val="tx1"/>
                </a:solidFill>
                <a:latin typeface="+mn-lt"/>
              </a:defRPr>
            </a:lvl3pPr>
            <a:lvl4pPr marL="1143000" indent="-171450" algn="l" rtl="0" eaLnBrk="1" fontAlgn="base" hangingPunct="1">
              <a:spcBef>
                <a:spcPts val="0"/>
              </a:spcBef>
              <a:spcAft>
                <a:spcPct val="0"/>
              </a:spcAft>
              <a:buClr>
                <a:schemeClr val="accent2"/>
              </a:buClr>
              <a:buChar char="–"/>
              <a:defRPr sz="1200" baseline="0">
                <a:solidFill>
                  <a:schemeClr val="tx1"/>
                </a:solidFill>
                <a:latin typeface="+mn-lt"/>
              </a:defRPr>
            </a:lvl4pPr>
            <a:lvl5pPr marL="1371600" indent="-107950" algn="l" rtl="0" eaLnBrk="1" fontAlgn="base" hangingPunct="1">
              <a:spcBef>
                <a:spcPts val="0"/>
              </a:spcBef>
              <a:spcAft>
                <a:spcPct val="0"/>
              </a:spcAft>
              <a:buClr>
                <a:schemeClr val="accent2"/>
              </a:buClr>
              <a:buChar char="»"/>
              <a:defRPr sz="11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kern="0"/>
              <a:t>Select the “Break Label” checkbox to indicate that you want the system to print a break label between shipments' labels in a wave. </a:t>
            </a:r>
          </a:p>
          <a:p>
            <a:r>
              <a:rPr lang="en-US" kern="0"/>
              <a:t>Separated label when printing out a series of labels</a:t>
            </a:r>
          </a:p>
          <a:p>
            <a:r>
              <a:rPr lang="en-US" kern="0"/>
              <a:t>Break Conditions</a:t>
            </a:r>
          </a:p>
          <a:p>
            <a:pPr lvl="1"/>
            <a:endParaRPr lang="en-US" kern="0"/>
          </a:p>
          <a:p>
            <a:r>
              <a:rPr lang="en-US" kern="0"/>
              <a:t>Split at predetermined level the break label provides a marker between batches of labels.</a:t>
            </a:r>
          </a:p>
        </p:txBody>
      </p:sp>
    </p:spTree>
    <p:extLst>
      <p:ext uri="{BB962C8B-B14F-4D97-AF65-F5344CB8AC3E}">
        <p14:creationId xmlns:p14="http://schemas.microsoft.com/office/powerpoint/2010/main" val="386946502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Receipt Container Label</a:t>
            </a:r>
          </a:p>
        </p:txBody>
      </p:sp>
      <p:pic>
        <p:nvPicPr>
          <p:cNvPr id="4" name="Content Placeholder 3"/>
          <p:cNvPicPr>
            <a:picLocks noGrp="1" noChangeAspect="1"/>
          </p:cNvPicPr>
          <p:nvPr>
            <p:ph idx="1"/>
          </p:nvPr>
        </p:nvPicPr>
        <p:blipFill>
          <a:blip r:embed="rId3"/>
          <a:stretch>
            <a:fillRect/>
          </a:stretch>
        </p:blipFill>
        <p:spPr>
          <a:xfrm>
            <a:off x="4572000" y="1082892"/>
            <a:ext cx="3445338" cy="5092700"/>
          </a:xfrm>
          <a:prstGeom prst="rect">
            <a:avLst/>
          </a:prstGeom>
        </p:spPr>
      </p:pic>
      <p:sp>
        <p:nvSpPr>
          <p:cNvPr id="5" name="Content Placeholder 2">
            <a:extLst>
              <a:ext uri="{FF2B5EF4-FFF2-40B4-BE49-F238E27FC236}">
                <a16:creationId xmlns:a16="http://schemas.microsoft.com/office/drawing/2014/main" id="{AFBF8608-3C70-4EC7-988B-FE82CAD38F62}"/>
              </a:ext>
            </a:extLst>
          </p:cNvPr>
          <p:cNvSpPr txBox="1">
            <a:spLocks/>
          </p:cNvSpPr>
          <p:nvPr/>
        </p:nvSpPr>
        <p:spPr bwMode="auto">
          <a:xfrm>
            <a:off x="138401" y="2618209"/>
            <a:ext cx="3295534" cy="35968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76213" indent="-176213" algn="l" rtl="0" eaLnBrk="1" fontAlgn="base" hangingPunct="1">
              <a:spcBef>
                <a:spcPts val="1400"/>
              </a:spcBef>
              <a:spcAft>
                <a:spcPct val="0"/>
              </a:spcAft>
              <a:buClr>
                <a:srgbClr val="005195"/>
              </a:buClr>
              <a:buChar char="•"/>
              <a:defRPr sz="2000">
                <a:solidFill>
                  <a:schemeClr val="tx1"/>
                </a:solidFill>
                <a:latin typeface="+mn-lt"/>
                <a:ea typeface="+mn-ea"/>
                <a:cs typeface="+mn-cs"/>
              </a:defRPr>
            </a:lvl1pPr>
            <a:lvl2pPr marL="519113" indent="-201613" algn="l" rtl="0" eaLnBrk="1" fontAlgn="base" hangingPunct="1">
              <a:spcBef>
                <a:spcPct val="0"/>
              </a:spcBef>
              <a:spcAft>
                <a:spcPct val="0"/>
              </a:spcAft>
              <a:buClr>
                <a:srgbClr val="005195"/>
              </a:buClr>
              <a:buChar char="–"/>
              <a:defRPr sz="1600">
                <a:solidFill>
                  <a:schemeClr val="tx1"/>
                </a:solidFill>
                <a:latin typeface="+mn-lt"/>
              </a:defRPr>
            </a:lvl2pPr>
            <a:lvl3pPr marL="803275" indent="-141288" algn="l" rtl="0" eaLnBrk="1" fontAlgn="base" hangingPunct="1">
              <a:spcBef>
                <a:spcPct val="0"/>
              </a:spcBef>
              <a:spcAft>
                <a:spcPct val="0"/>
              </a:spcAft>
              <a:buClr>
                <a:schemeClr val="accent2"/>
              </a:buClr>
              <a:buFont typeface="Arial" pitchFamily="34" charset="0"/>
              <a:buChar char="»"/>
              <a:defRPr sz="1400">
                <a:solidFill>
                  <a:schemeClr val="tx1"/>
                </a:solidFill>
                <a:latin typeface="+mn-lt"/>
              </a:defRPr>
            </a:lvl3pPr>
            <a:lvl4pPr marL="1143000" indent="-171450" algn="l" rtl="0" eaLnBrk="1" fontAlgn="base" hangingPunct="1">
              <a:spcBef>
                <a:spcPts val="0"/>
              </a:spcBef>
              <a:spcAft>
                <a:spcPct val="0"/>
              </a:spcAft>
              <a:buClr>
                <a:schemeClr val="accent2"/>
              </a:buClr>
              <a:buChar char="–"/>
              <a:defRPr sz="1200" baseline="0">
                <a:solidFill>
                  <a:schemeClr val="tx1"/>
                </a:solidFill>
                <a:latin typeface="+mn-lt"/>
              </a:defRPr>
            </a:lvl4pPr>
            <a:lvl5pPr marL="1371600" indent="-107950" algn="l" rtl="0" eaLnBrk="1" fontAlgn="base" hangingPunct="1">
              <a:spcBef>
                <a:spcPts val="0"/>
              </a:spcBef>
              <a:spcAft>
                <a:spcPct val="0"/>
              </a:spcAft>
              <a:buClr>
                <a:schemeClr val="accent2"/>
              </a:buClr>
              <a:buChar char="»"/>
              <a:defRPr sz="11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ctr"/>
            <a:r>
              <a:rPr lang="en-US" kern="0"/>
              <a:t>A receipt container label is the equivalent of a vendor label for inbound receipt container printing</a:t>
            </a:r>
          </a:p>
        </p:txBody>
      </p:sp>
    </p:spTree>
    <p:extLst>
      <p:ext uri="{BB962C8B-B14F-4D97-AF65-F5344CB8AC3E}">
        <p14:creationId xmlns:p14="http://schemas.microsoft.com/office/powerpoint/2010/main" val="142560825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31328-A1FD-4462-9C04-835ADF749F1A}"/>
              </a:ext>
            </a:extLst>
          </p:cNvPr>
          <p:cNvSpPr>
            <a:spLocks noGrp="1"/>
          </p:cNvSpPr>
          <p:nvPr>
            <p:ph type="title"/>
          </p:nvPr>
        </p:nvSpPr>
        <p:spPr/>
        <p:txBody>
          <a:bodyPr/>
          <a:lstStyle/>
          <a:p>
            <a:r>
              <a:rPr lang="en-US"/>
              <a:t>Stored Procedure Add-Ins</a:t>
            </a:r>
          </a:p>
        </p:txBody>
      </p:sp>
    </p:spTree>
    <p:extLst>
      <p:ext uri="{BB962C8B-B14F-4D97-AF65-F5344CB8AC3E}">
        <p14:creationId xmlns:p14="http://schemas.microsoft.com/office/powerpoint/2010/main" val="295515218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4FF6E-CE56-426B-B27A-4A47B83872C0}"/>
              </a:ext>
            </a:extLst>
          </p:cNvPr>
          <p:cNvSpPr>
            <a:spLocks noGrp="1"/>
          </p:cNvSpPr>
          <p:nvPr>
            <p:ph type="title"/>
          </p:nvPr>
        </p:nvSpPr>
        <p:spPr/>
        <p:txBody>
          <a:bodyPr/>
          <a:lstStyle/>
          <a:p>
            <a:r>
              <a:rPr lang="en-US"/>
              <a:t>Shipment Detail</a:t>
            </a:r>
          </a:p>
        </p:txBody>
      </p:sp>
      <p:sp>
        <p:nvSpPr>
          <p:cNvPr id="3" name="Content Placeholder 2">
            <a:extLst>
              <a:ext uri="{FF2B5EF4-FFF2-40B4-BE49-F238E27FC236}">
                <a16:creationId xmlns:a16="http://schemas.microsoft.com/office/drawing/2014/main" id="{7AD9DECE-341B-44CF-8CBE-24B4A8D967DA}"/>
              </a:ext>
            </a:extLst>
          </p:cNvPr>
          <p:cNvSpPr>
            <a:spLocks noGrp="1"/>
          </p:cNvSpPr>
          <p:nvPr>
            <p:ph idx="1"/>
          </p:nvPr>
        </p:nvSpPr>
        <p:spPr/>
        <p:txBody>
          <a:bodyPr/>
          <a:lstStyle/>
          <a:p>
            <a:r>
              <a:rPr lang="en-US"/>
              <a:t>Within the database (accessible through SSMS) under “programmability’ </a:t>
            </a:r>
          </a:p>
          <a:p>
            <a:r>
              <a:rPr lang="en-US"/>
              <a:t>These are the fields that can be custom added to the Shipment Detail Label:</a:t>
            </a:r>
          </a:p>
        </p:txBody>
      </p:sp>
      <p:pic>
        <p:nvPicPr>
          <p:cNvPr id="5" name="Picture 4" descr="Graphical user interface, text, application, email&#10;&#10;Description automatically generated">
            <a:extLst>
              <a:ext uri="{FF2B5EF4-FFF2-40B4-BE49-F238E27FC236}">
                <a16:creationId xmlns:a16="http://schemas.microsoft.com/office/drawing/2014/main" id="{20BCB36A-81FC-49F5-8126-F682744AE768}"/>
              </a:ext>
            </a:extLst>
          </p:cNvPr>
          <p:cNvPicPr>
            <a:picLocks noChangeAspect="1"/>
          </p:cNvPicPr>
          <p:nvPr/>
        </p:nvPicPr>
        <p:blipFill>
          <a:blip r:embed="rId2"/>
          <a:stretch>
            <a:fillRect/>
          </a:stretch>
        </p:blipFill>
        <p:spPr>
          <a:xfrm>
            <a:off x="1264570" y="2221011"/>
            <a:ext cx="6267772" cy="2895749"/>
          </a:xfrm>
          <a:prstGeom prst="rect">
            <a:avLst/>
          </a:prstGeom>
        </p:spPr>
      </p:pic>
    </p:spTree>
    <p:extLst>
      <p:ext uri="{BB962C8B-B14F-4D97-AF65-F5344CB8AC3E}">
        <p14:creationId xmlns:p14="http://schemas.microsoft.com/office/powerpoint/2010/main" val="166242110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4FF6E-CE56-426B-B27A-4A47B83872C0}"/>
              </a:ext>
            </a:extLst>
          </p:cNvPr>
          <p:cNvSpPr>
            <a:spLocks noGrp="1"/>
          </p:cNvSpPr>
          <p:nvPr>
            <p:ph type="title"/>
          </p:nvPr>
        </p:nvSpPr>
        <p:spPr/>
        <p:txBody>
          <a:bodyPr/>
          <a:lstStyle/>
          <a:p>
            <a:r>
              <a:rPr lang="en-US"/>
              <a:t>Container Contents Header</a:t>
            </a:r>
          </a:p>
        </p:txBody>
      </p:sp>
      <p:sp>
        <p:nvSpPr>
          <p:cNvPr id="3" name="Content Placeholder 2">
            <a:extLst>
              <a:ext uri="{FF2B5EF4-FFF2-40B4-BE49-F238E27FC236}">
                <a16:creationId xmlns:a16="http://schemas.microsoft.com/office/drawing/2014/main" id="{7AD9DECE-341B-44CF-8CBE-24B4A8D967DA}"/>
              </a:ext>
            </a:extLst>
          </p:cNvPr>
          <p:cNvSpPr>
            <a:spLocks noGrp="1"/>
          </p:cNvSpPr>
          <p:nvPr>
            <p:ph idx="1"/>
          </p:nvPr>
        </p:nvSpPr>
        <p:spPr/>
        <p:txBody>
          <a:bodyPr/>
          <a:lstStyle/>
          <a:p>
            <a:r>
              <a:rPr lang="en-US"/>
              <a:t>Within the database (accessible through SSMS) under “programmability’</a:t>
            </a:r>
          </a:p>
          <a:p>
            <a:pPr lvl="1"/>
            <a:r>
              <a:rPr lang="en-US"/>
              <a:t>Programmability&gt;&gt;&gt; </a:t>
            </a:r>
          </a:p>
          <a:p>
            <a:r>
              <a:rPr lang="en-US"/>
              <a:t>The following fields can be added to the Shipment header:</a:t>
            </a:r>
          </a:p>
        </p:txBody>
      </p:sp>
      <p:pic>
        <p:nvPicPr>
          <p:cNvPr id="5" name="Picture 4" descr="Graphical user interface, application&#10;&#10;Description automatically generated">
            <a:extLst>
              <a:ext uri="{FF2B5EF4-FFF2-40B4-BE49-F238E27FC236}">
                <a16:creationId xmlns:a16="http://schemas.microsoft.com/office/drawing/2014/main" id="{1003D12C-9C64-4433-80AE-336A2091D4E7}"/>
              </a:ext>
            </a:extLst>
          </p:cNvPr>
          <p:cNvPicPr>
            <a:picLocks noChangeAspect="1"/>
          </p:cNvPicPr>
          <p:nvPr/>
        </p:nvPicPr>
        <p:blipFill>
          <a:blip r:embed="rId2"/>
          <a:stretch>
            <a:fillRect/>
          </a:stretch>
        </p:blipFill>
        <p:spPr>
          <a:xfrm>
            <a:off x="2439380" y="2240485"/>
            <a:ext cx="3918151" cy="4097566"/>
          </a:xfrm>
          <a:prstGeom prst="rect">
            <a:avLst/>
          </a:prstGeom>
        </p:spPr>
      </p:pic>
    </p:spTree>
    <p:extLst>
      <p:ext uri="{BB962C8B-B14F-4D97-AF65-F5344CB8AC3E}">
        <p14:creationId xmlns:p14="http://schemas.microsoft.com/office/powerpoint/2010/main" val="172433927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31328-A1FD-4462-9C04-835ADF749F1A}"/>
              </a:ext>
            </a:extLst>
          </p:cNvPr>
          <p:cNvSpPr>
            <a:spLocks noGrp="1"/>
          </p:cNvSpPr>
          <p:nvPr>
            <p:ph type="title"/>
          </p:nvPr>
        </p:nvSpPr>
        <p:spPr/>
        <p:txBody>
          <a:bodyPr/>
          <a:lstStyle/>
          <a:p>
            <a:r>
              <a:rPr lang="en-US"/>
              <a:t>Adding a vendor label file to the system</a:t>
            </a:r>
          </a:p>
        </p:txBody>
      </p:sp>
    </p:spTree>
    <p:extLst>
      <p:ext uri="{BB962C8B-B14F-4D97-AF65-F5344CB8AC3E}">
        <p14:creationId xmlns:p14="http://schemas.microsoft.com/office/powerpoint/2010/main" val="136784831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7C66-EAFF-41EB-A25C-A4AC694A9A3D}"/>
              </a:ext>
            </a:extLst>
          </p:cNvPr>
          <p:cNvSpPr>
            <a:spLocks noGrp="1"/>
          </p:cNvSpPr>
          <p:nvPr>
            <p:ph type="title"/>
          </p:nvPr>
        </p:nvSpPr>
        <p:spPr/>
        <p:txBody>
          <a:bodyPr/>
          <a:lstStyle/>
          <a:p>
            <a:r>
              <a:rPr lang="en-US"/>
              <a:t>Navigate to printing within the system</a:t>
            </a:r>
          </a:p>
        </p:txBody>
      </p:sp>
      <p:sp>
        <p:nvSpPr>
          <p:cNvPr id="3" name="Content Placeholder 2">
            <a:extLst>
              <a:ext uri="{FF2B5EF4-FFF2-40B4-BE49-F238E27FC236}">
                <a16:creationId xmlns:a16="http://schemas.microsoft.com/office/drawing/2014/main" id="{09339A07-2CBD-4D8E-99C6-DD451FFE979A}"/>
              </a:ext>
            </a:extLst>
          </p:cNvPr>
          <p:cNvSpPr>
            <a:spLocks noGrp="1"/>
          </p:cNvSpPr>
          <p:nvPr>
            <p:ph idx="1"/>
          </p:nvPr>
        </p:nvSpPr>
        <p:spPr/>
        <p:txBody>
          <a:bodyPr/>
          <a:lstStyle/>
          <a:p>
            <a:r>
              <a:rPr lang="fr-FR"/>
              <a:t>C:\Program Files\Manhattan Associates\ILS\2021\Printing</a:t>
            </a:r>
          </a:p>
          <a:p>
            <a:r>
              <a:rPr lang="fr-FR"/>
              <a:t>Copy an </a:t>
            </a:r>
            <a:r>
              <a:rPr lang="fr-FR" err="1"/>
              <a:t>existing</a:t>
            </a:r>
            <a:r>
              <a:rPr lang="fr-FR"/>
              <a:t> .</a:t>
            </a:r>
            <a:r>
              <a:rPr lang="fr-FR" err="1"/>
              <a:t>lbl</a:t>
            </a:r>
            <a:r>
              <a:rPr lang="fr-FR"/>
              <a:t> – Paste the copy and </a:t>
            </a:r>
            <a:r>
              <a:rPr lang="en-US"/>
              <a:t>rename</a:t>
            </a:r>
            <a:r>
              <a:rPr lang="fr-FR"/>
              <a:t> </a:t>
            </a:r>
            <a:r>
              <a:rPr lang="fr-FR" err="1"/>
              <a:t>according</a:t>
            </a:r>
            <a:r>
              <a:rPr lang="fr-FR"/>
              <a:t> to the </a:t>
            </a:r>
            <a:r>
              <a:rPr lang="fr-FR" err="1"/>
              <a:t>name</a:t>
            </a:r>
            <a:r>
              <a:rPr lang="fr-FR"/>
              <a:t> of the </a:t>
            </a:r>
            <a:r>
              <a:rPr lang="en-US"/>
              <a:t>vendor</a:t>
            </a:r>
            <a:r>
              <a:rPr lang="fr-FR"/>
              <a:t> the </a:t>
            </a:r>
            <a:r>
              <a:rPr lang="fr-FR" err="1"/>
              <a:t>template</a:t>
            </a:r>
            <a:r>
              <a:rPr lang="fr-FR"/>
              <a:t> </a:t>
            </a:r>
            <a:r>
              <a:rPr lang="fr-FR" err="1"/>
              <a:t>is</a:t>
            </a:r>
            <a:r>
              <a:rPr lang="fr-FR"/>
              <a:t> </a:t>
            </a:r>
            <a:r>
              <a:rPr lang="fr-FR" err="1"/>
              <a:t>being</a:t>
            </a:r>
            <a:r>
              <a:rPr lang="fr-FR"/>
              <a:t> </a:t>
            </a:r>
            <a:r>
              <a:rPr lang="fr-FR" err="1"/>
              <a:t>created</a:t>
            </a:r>
            <a:r>
              <a:rPr lang="fr-FR"/>
              <a:t> for.</a:t>
            </a:r>
            <a:endParaRPr lang="en-US"/>
          </a:p>
        </p:txBody>
      </p:sp>
      <p:pic>
        <p:nvPicPr>
          <p:cNvPr id="5" name="Picture 4" descr="Graphical user interface, table&#10;&#10;Description automatically generated">
            <a:extLst>
              <a:ext uri="{FF2B5EF4-FFF2-40B4-BE49-F238E27FC236}">
                <a16:creationId xmlns:a16="http://schemas.microsoft.com/office/drawing/2014/main" id="{0B9BBC1E-7293-419A-AB6C-FDB995998849}"/>
              </a:ext>
            </a:extLst>
          </p:cNvPr>
          <p:cNvPicPr>
            <a:picLocks noChangeAspect="1"/>
          </p:cNvPicPr>
          <p:nvPr/>
        </p:nvPicPr>
        <p:blipFill>
          <a:blip r:embed="rId2"/>
          <a:stretch>
            <a:fillRect/>
          </a:stretch>
        </p:blipFill>
        <p:spPr>
          <a:xfrm>
            <a:off x="730204" y="2416739"/>
            <a:ext cx="6709985" cy="3561369"/>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E4706242-CDBF-4795-BC06-4FFE46B1A396}"/>
                  </a:ext>
                </a:extLst>
              </p14:cNvPr>
              <p14:cNvContentPartPr/>
              <p14:nvPr/>
            </p14:nvContentPartPr>
            <p14:xfrm>
              <a:off x="1137595" y="4881041"/>
              <a:ext cx="171000" cy="33120"/>
            </p14:xfrm>
          </p:contentPart>
        </mc:Choice>
        <mc:Fallback xmlns="">
          <p:pic>
            <p:nvPicPr>
              <p:cNvPr id="6" name="Ink 5">
                <a:extLst>
                  <a:ext uri="{FF2B5EF4-FFF2-40B4-BE49-F238E27FC236}">
                    <a16:creationId xmlns:a16="http://schemas.microsoft.com/office/drawing/2014/main" id="{E4706242-CDBF-4795-BC06-4FFE46B1A396}"/>
                  </a:ext>
                </a:extLst>
              </p:cNvPr>
              <p:cNvPicPr/>
              <p:nvPr/>
            </p:nvPicPr>
            <p:blipFill>
              <a:blip r:embed="rId4"/>
              <a:stretch>
                <a:fillRect/>
              </a:stretch>
            </p:blipFill>
            <p:spPr>
              <a:xfrm>
                <a:off x="1083595" y="4773041"/>
                <a:ext cx="27864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1926FACD-1211-4322-9EA5-F8D1E0A34696}"/>
                  </a:ext>
                </a:extLst>
              </p14:cNvPr>
              <p14:cNvContentPartPr/>
              <p14:nvPr/>
            </p14:nvContentPartPr>
            <p14:xfrm>
              <a:off x="1854715" y="2867201"/>
              <a:ext cx="3080160" cy="34200"/>
            </p14:xfrm>
          </p:contentPart>
        </mc:Choice>
        <mc:Fallback xmlns="">
          <p:pic>
            <p:nvPicPr>
              <p:cNvPr id="9" name="Ink 8">
                <a:extLst>
                  <a:ext uri="{FF2B5EF4-FFF2-40B4-BE49-F238E27FC236}">
                    <a16:creationId xmlns:a16="http://schemas.microsoft.com/office/drawing/2014/main" id="{1926FACD-1211-4322-9EA5-F8D1E0A34696}"/>
                  </a:ext>
                </a:extLst>
              </p:cNvPr>
              <p:cNvPicPr/>
              <p:nvPr/>
            </p:nvPicPr>
            <p:blipFill>
              <a:blip r:embed="rId6"/>
              <a:stretch>
                <a:fillRect/>
              </a:stretch>
            </p:blipFill>
            <p:spPr>
              <a:xfrm>
                <a:off x="1800715" y="2759201"/>
                <a:ext cx="3187800" cy="249840"/>
              </a:xfrm>
              <a:prstGeom prst="rect">
                <a:avLst/>
              </a:prstGeom>
            </p:spPr>
          </p:pic>
        </mc:Fallback>
      </mc:AlternateContent>
    </p:spTree>
    <p:extLst>
      <p:ext uri="{BB962C8B-B14F-4D97-AF65-F5344CB8AC3E}">
        <p14:creationId xmlns:p14="http://schemas.microsoft.com/office/powerpoint/2010/main" val="425115479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73321-2AB8-4BB2-A352-55A6E6C7EA41}"/>
              </a:ext>
            </a:extLst>
          </p:cNvPr>
          <p:cNvSpPr>
            <a:spLocks noGrp="1"/>
          </p:cNvSpPr>
          <p:nvPr>
            <p:ph type="title"/>
          </p:nvPr>
        </p:nvSpPr>
        <p:spPr/>
        <p:txBody>
          <a:bodyPr/>
          <a:lstStyle/>
          <a:p>
            <a:r>
              <a:rPr lang="en-US"/>
              <a:t>Update the file with custom ZPL</a:t>
            </a:r>
          </a:p>
        </p:txBody>
      </p:sp>
      <p:sp>
        <p:nvSpPr>
          <p:cNvPr id="3" name="Content Placeholder 2">
            <a:extLst>
              <a:ext uri="{FF2B5EF4-FFF2-40B4-BE49-F238E27FC236}">
                <a16:creationId xmlns:a16="http://schemas.microsoft.com/office/drawing/2014/main" id="{3CE1A23E-0DDF-4BD3-9DDE-D63BC932ECF4}"/>
              </a:ext>
            </a:extLst>
          </p:cNvPr>
          <p:cNvSpPr>
            <a:spLocks noGrp="1"/>
          </p:cNvSpPr>
          <p:nvPr>
            <p:ph idx="1"/>
          </p:nvPr>
        </p:nvSpPr>
        <p:spPr/>
        <p:txBody>
          <a:bodyPr/>
          <a:lstStyle/>
          <a:p>
            <a:r>
              <a:rPr lang="en-US"/>
              <a:t>After creating the new file input the ZPL formatting for the specific label.</a:t>
            </a:r>
          </a:p>
          <a:p>
            <a:pPr lvl="1"/>
            <a:r>
              <a:rPr lang="en-US"/>
              <a:t>Choose to edit with notepad++, then completely replace the contents and save the file.</a:t>
            </a:r>
          </a:p>
        </p:txBody>
      </p:sp>
      <p:pic>
        <p:nvPicPr>
          <p:cNvPr id="5" name="Picture 4" descr="Graphical user interface&#10;&#10;Description automatically generated with medium confidence">
            <a:extLst>
              <a:ext uri="{FF2B5EF4-FFF2-40B4-BE49-F238E27FC236}">
                <a16:creationId xmlns:a16="http://schemas.microsoft.com/office/drawing/2014/main" id="{6EC7EAFF-16A7-4980-BFC2-517F187437AD}"/>
              </a:ext>
            </a:extLst>
          </p:cNvPr>
          <p:cNvPicPr>
            <a:picLocks noChangeAspect="1"/>
          </p:cNvPicPr>
          <p:nvPr/>
        </p:nvPicPr>
        <p:blipFill>
          <a:blip r:embed="rId2"/>
          <a:stretch>
            <a:fillRect/>
          </a:stretch>
        </p:blipFill>
        <p:spPr>
          <a:xfrm>
            <a:off x="846110" y="1844499"/>
            <a:ext cx="7104691" cy="455979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08029DE0-23A6-4448-A8CD-635FFEB93234}"/>
                  </a:ext>
                </a:extLst>
              </p14:cNvPr>
              <p14:cNvContentPartPr/>
              <p14:nvPr/>
            </p14:nvContentPartPr>
            <p14:xfrm>
              <a:off x="1302115" y="4670081"/>
              <a:ext cx="915840" cy="20520"/>
            </p14:xfrm>
          </p:contentPart>
        </mc:Choice>
        <mc:Fallback xmlns="">
          <p:pic>
            <p:nvPicPr>
              <p:cNvPr id="6" name="Ink 5">
                <a:extLst>
                  <a:ext uri="{FF2B5EF4-FFF2-40B4-BE49-F238E27FC236}">
                    <a16:creationId xmlns:a16="http://schemas.microsoft.com/office/drawing/2014/main" id="{08029DE0-23A6-4448-A8CD-635FFEB93234}"/>
                  </a:ext>
                </a:extLst>
              </p:cNvPr>
              <p:cNvPicPr/>
              <p:nvPr/>
            </p:nvPicPr>
            <p:blipFill>
              <a:blip r:embed="rId4"/>
              <a:stretch>
                <a:fillRect/>
              </a:stretch>
            </p:blipFill>
            <p:spPr>
              <a:xfrm>
                <a:off x="1248094" y="4562081"/>
                <a:ext cx="1023522" cy="236160"/>
              </a:xfrm>
              <a:prstGeom prst="rect">
                <a:avLst/>
              </a:prstGeom>
            </p:spPr>
          </p:pic>
        </mc:Fallback>
      </mc:AlternateContent>
    </p:spTree>
    <p:extLst>
      <p:ext uri="{BB962C8B-B14F-4D97-AF65-F5344CB8AC3E}">
        <p14:creationId xmlns:p14="http://schemas.microsoft.com/office/powerpoint/2010/main" val="235829410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Zebra Programming Language (ZPL)</a:t>
            </a:r>
          </a:p>
        </p:txBody>
      </p:sp>
    </p:spTree>
    <p:extLst>
      <p:ext uri="{BB962C8B-B14F-4D97-AF65-F5344CB8AC3E}">
        <p14:creationId xmlns:p14="http://schemas.microsoft.com/office/powerpoint/2010/main" val="396337410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What Is ZPL?</a:t>
            </a:r>
          </a:p>
        </p:txBody>
      </p:sp>
      <p:sp>
        <p:nvSpPr>
          <p:cNvPr id="5" name="Content Placeholder 4"/>
          <p:cNvSpPr>
            <a:spLocks noGrp="1"/>
          </p:cNvSpPr>
          <p:nvPr>
            <p:ph idx="1"/>
          </p:nvPr>
        </p:nvSpPr>
        <p:spPr>
          <a:xfrm>
            <a:off x="541522" y="1288026"/>
            <a:ext cx="6144413" cy="4799218"/>
          </a:xfrm>
        </p:spPr>
        <p:txBody>
          <a:bodyPr/>
          <a:lstStyle/>
          <a:p>
            <a:r>
              <a:rPr lang="en-US"/>
              <a:t>Zebra Programming Language</a:t>
            </a:r>
          </a:p>
          <a:p>
            <a:pPr marL="0" indent="0">
              <a:buNone/>
            </a:pPr>
            <a:endParaRPr lang="en-US"/>
          </a:p>
          <a:p>
            <a:r>
              <a:rPr lang="en-US" b="0" i="0">
                <a:solidFill>
                  <a:srgbClr val="333333"/>
                </a:solidFill>
                <a:effectLst/>
                <a:latin typeface="Helvetica Neue"/>
              </a:rPr>
              <a:t>ZPL is a print language used by many label printers</a:t>
            </a:r>
            <a:r>
              <a:rPr lang="en-US"/>
              <a:t>.  It is primarily used for labeling applications.</a:t>
            </a:r>
          </a:p>
          <a:p>
            <a:pPr marL="0" indent="0">
              <a:buNone/>
            </a:pPr>
            <a:endParaRPr lang="en-US"/>
          </a:p>
          <a:p>
            <a:r>
              <a:rPr lang="en-US"/>
              <a:t>ZPL can be used to design label templates, as well as pull data from a SQL database.</a:t>
            </a:r>
          </a:p>
        </p:txBody>
      </p:sp>
    </p:spTree>
    <p:extLst>
      <p:ext uri="{BB962C8B-B14F-4D97-AF65-F5344CB8AC3E}">
        <p14:creationId xmlns:p14="http://schemas.microsoft.com/office/powerpoint/2010/main" val="332870074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ZPL Command Basics</a:t>
            </a:r>
          </a:p>
        </p:txBody>
      </p:sp>
      <p:sp>
        <p:nvSpPr>
          <p:cNvPr id="3" name="Content Placeholder 2"/>
          <p:cNvSpPr>
            <a:spLocks noGrp="1"/>
          </p:cNvSpPr>
          <p:nvPr>
            <p:ph sz="half" idx="1"/>
          </p:nvPr>
        </p:nvSpPr>
        <p:spPr>
          <a:xfrm>
            <a:off x="138400" y="985504"/>
            <a:ext cx="7994328" cy="4954766"/>
          </a:xfrm>
        </p:spPr>
        <p:txBody>
          <a:bodyPr/>
          <a:lstStyle/>
          <a:p>
            <a:r>
              <a:rPr lang="en-US"/>
              <a:t>^XA – Start Format</a:t>
            </a:r>
          </a:p>
          <a:p>
            <a:r>
              <a:rPr lang="en-US"/>
              <a:t>^XZ – End Format</a:t>
            </a:r>
          </a:p>
          <a:p>
            <a:r>
              <a:rPr lang="en-US"/>
              <a:t>^</a:t>
            </a:r>
            <a:r>
              <a:rPr lang="en-US" err="1"/>
              <a:t>FOx,y</a:t>
            </a:r>
            <a:r>
              <a:rPr lang="en-US"/>
              <a:t> – field origin </a:t>
            </a:r>
          </a:p>
          <a:p>
            <a:pPr lvl="1"/>
            <a:r>
              <a:rPr lang="en-US"/>
              <a:t>X – x coordinate</a:t>
            </a:r>
          </a:p>
          <a:p>
            <a:pPr lvl="1"/>
            <a:r>
              <a:rPr lang="en-US"/>
              <a:t>Y – y coordinate</a:t>
            </a:r>
          </a:p>
          <a:p>
            <a:r>
              <a:rPr lang="en-US"/>
              <a:t>^FS – field separator</a:t>
            </a:r>
          </a:p>
          <a:p>
            <a:r>
              <a:rPr lang="en-US"/>
              <a:t>^A0NX,Y – font size</a:t>
            </a:r>
          </a:p>
          <a:p>
            <a:pPr lvl="1"/>
            <a:r>
              <a:rPr lang="en-US"/>
              <a:t>X – width</a:t>
            </a:r>
          </a:p>
          <a:p>
            <a:pPr lvl="1"/>
            <a:r>
              <a:rPr lang="en-US"/>
              <a:t>Y – height</a:t>
            </a:r>
          </a:p>
          <a:p>
            <a:r>
              <a:rPr lang="en-US"/>
              <a:t>^FD – field data</a:t>
            </a:r>
          </a:p>
          <a:p>
            <a:r>
              <a:rPr lang="en-US"/>
              <a:t>^B% - barcode fonts</a:t>
            </a:r>
          </a:p>
          <a:p>
            <a:pPr lvl="1"/>
            <a:r>
              <a:rPr lang="pl-PL"/>
              <a:t>Bx</a:t>
            </a:r>
            <a:r>
              <a:rPr lang="en-US"/>
              <a:t>, </a:t>
            </a:r>
            <a:r>
              <a:rPr lang="pl-PL"/>
              <a:t>Bc</a:t>
            </a:r>
            <a:r>
              <a:rPr lang="en-US"/>
              <a:t>, </a:t>
            </a:r>
            <a:r>
              <a:rPr lang="pl-PL"/>
              <a:t>Bo</a:t>
            </a:r>
            <a:r>
              <a:rPr lang="en-US"/>
              <a:t>, </a:t>
            </a:r>
            <a:r>
              <a:rPr lang="pl-PL"/>
              <a:t>Bq</a:t>
            </a:r>
            <a:r>
              <a:rPr lang="en-US"/>
              <a:t>, </a:t>
            </a:r>
            <a:r>
              <a:rPr lang="pl-PL"/>
              <a:t>B3</a:t>
            </a:r>
          </a:p>
          <a:p>
            <a:pPr lvl="1"/>
            <a:endParaRPr lang="en-US"/>
          </a:p>
          <a:p>
            <a:r>
              <a:rPr lang="en-US"/>
              <a:t>^GB – graphic box</a:t>
            </a:r>
          </a:p>
          <a:p>
            <a:pPr marL="0" indent="0">
              <a:buNone/>
            </a:pPr>
            <a:endParaRPr lang="en-US"/>
          </a:p>
        </p:txBody>
      </p:sp>
      <p:pic>
        <p:nvPicPr>
          <p:cNvPr id="4" name="Picture 3"/>
          <p:cNvPicPr>
            <a:picLocks noChangeAspect="1"/>
          </p:cNvPicPr>
          <p:nvPr/>
        </p:nvPicPr>
        <p:blipFill>
          <a:blip r:embed="rId2"/>
          <a:stretch>
            <a:fillRect/>
          </a:stretch>
        </p:blipFill>
        <p:spPr>
          <a:xfrm>
            <a:off x="3907505" y="826477"/>
            <a:ext cx="3708097" cy="5272820"/>
          </a:xfrm>
          <a:prstGeom prst="rect">
            <a:avLst/>
          </a:prstGeom>
        </p:spPr>
      </p:pic>
      <p:grpSp>
        <p:nvGrpSpPr>
          <p:cNvPr id="10" name="Group 9">
            <a:extLst>
              <a:ext uri="{FF2B5EF4-FFF2-40B4-BE49-F238E27FC236}">
                <a16:creationId xmlns:a16="http://schemas.microsoft.com/office/drawing/2014/main" id="{97A66FBD-276B-4753-ADD4-1520E90415A7}"/>
              </a:ext>
            </a:extLst>
          </p:cNvPr>
          <p:cNvGrpSpPr/>
          <p:nvPr/>
        </p:nvGrpSpPr>
        <p:grpSpPr>
          <a:xfrm>
            <a:off x="7624098" y="900881"/>
            <a:ext cx="51120" cy="26640"/>
            <a:chOff x="7624098" y="900881"/>
            <a:chExt cx="51120" cy="26640"/>
          </a:xfrm>
        </p:grpSpPr>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BF7855D2-5FD9-4EA4-A0D9-DE916E5CC7F4}"/>
                    </a:ext>
                  </a:extLst>
                </p14:cNvPr>
                <p14:cNvContentPartPr/>
                <p14:nvPr/>
              </p14:nvContentPartPr>
              <p14:xfrm>
                <a:off x="7624098" y="908441"/>
                <a:ext cx="26280" cy="19080"/>
              </p14:xfrm>
            </p:contentPart>
          </mc:Choice>
          <mc:Fallback xmlns="">
            <p:pic>
              <p:nvPicPr>
                <p:cNvPr id="8" name="Ink 7">
                  <a:extLst>
                    <a:ext uri="{FF2B5EF4-FFF2-40B4-BE49-F238E27FC236}">
                      <a16:creationId xmlns:a16="http://schemas.microsoft.com/office/drawing/2014/main" id="{BF7855D2-5FD9-4EA4-A0D9-DE916E5CC7F4}"/>
                    </a:ext>
                  </a:extLst>
                </p:cNvPr>
                <p:cNvPicPr/>
                <p:nvPr/>
              </p:nvPicPr>
              <p:blipFill>
                <a:blip r:embed="rId4"/>
                <a:stretch>
                  <a:fillRect/>
                </a:stretch>
              </p:blipFill>
              <p:spPr>
                <a:xfrm>
                  <a:off x="7615098" y="899441"/>
                  <a:ext cx="439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51DB48CD-AA4F-45B1-83ED-7414AB183246}"/>
                    </a:ext>
                  </a:extLst>
                </p14:cNvPr>
                <p14:cNvContentPartPr/>
                <p14:nvPr/>
              </p14:nvContentPartPr>
              <p14:xfrm>
                <a:off x="7657218" y="900881"/>
                <a:ext cx="18000" cy="6840"/>
              </p14:xfrm>
            </p:contentPart>
          </mc:Choice>
          <mc:Fallback xmlns="">
            <p:pic>
              <p:nvPicPr>
                <p:cNvPr id="9" name="Ink 8">
                  <a:extLst>
                    <a:ext uri="{FF2B5EF4-FFF2-40B4-BE49-F238E27FC236}">
                      <a16:creationId xmlns:a16="http://schemas.microsoft.com/office/drawing/2014/main" id="{51DB48CD-AA4F-45B1-83ED-7414AB183246}"/>
                    </a:ext>
                  </a:extLst>
                </p:cNvPr>
                <p:cNvPicPr/>
                <p:nvPr/>
              </p:nvPicPr>
              <p:blipFill>
                <a:blip r:embed="rId6"/>
                <a:stretch>
                  <a:fillRect/>
                </a:stretch>
              </p:blipFill>
              <p:spPr>
                <a:xfrm>
                  <a:off x="7648218" y="891881"/>
                  <a:ext cx="35640" cy="24480"/>
                </a:xfrm>
                <a:prstGeom prst="rect">
                  <a:avLst/>
                </a:prstGeom>
              </p:spPr>
            </p:pic>
          </mc:Fallback>
        </mc:AlternateContent>
      </p:grpSp>
    </p:spTree>
    <p:extLst>
      <p:ext uri="{BB962C8B-B14F-4D97-AF65-F5344CB8AC3E}">
        <p14:creationId xmlns:p14="http://schemas.microsoft.com/office/powerpoint/2010/main" val="67644770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Other Commands</a:t>
            </a:r>
          </a:p>
        </p:txBody>
      </p:sp>
      <p:sp>
        <p:nvSpPr>
          <p:cNvPr id="3" name="Content Placeholder 2"/>
          <p:cNvSpPr>
            <a:spLocks noGrp="1"/>
          </p:cNvSpPr>
          <p:nvPr>
            <p:ph sz="half" idx="1"/>
          </p:nvPr>
        </p:nvSpPr>
        <p:spPr>
          <a:xfrm>
            <a:off x="136949" y="1122282"/>
            <a:ext cx="8662494" cy="1117335"/>
          </a:xfrm>
        </p:spPr>
        <p:txBody>
          <a:bodyPr/>
          <a:lstStyle/>
          <a:p>
            <a:r>
              <a:rPr lang="en-US"/>
              <a:t>Wrap Text</a:t>
            </a:r>
          </a:p>
          <a:p>
            <a:pPr lvl="1"/>
            <a:r>
              <a:rPr lang="pt-BR"/>
              <a:t>^FB800,4,,,15</a:t>
            </a:r>
          </a:p>
          <a:p>
            <a:pPr lvl="1"/>
            <a:r>
              <a:rPr lang="pt-BR"/>
              <a:t>^A0N,30,40^FD  [[RECEIPT_DETAIL.ITEM_DESC]]^FS</a:t>
            </a:r>
            <a:endParaRPr lang="en-US"/>
          </a:p>
        </p:txBody>
      </p:sp>
      <p:pic>
        <p:nvPicPr>
          <p:cNvPr id="5" name="Picture 4"/>
          <p:cNvPicPr>
            <a:picLocks noChangeAspect="1"/>
          </p:cNvPicPr>
          <p:nvPr/>
        </p:nvPicPr>
        <p:blipFill>
          <a:blip r:embed="rId2"/>
          <a:stretch>
            <a:fillRect/>
          </a:stretch>
        </p:blipFill>
        <p:spPr>
          <a:xfrm>
            <a:off x="1533287" y="2022432"/>
            <a:ext cx="5654236" cy="4179585"/>
          </a:xfrm>
          <a:prstGeom prst="rect">
            <a:avLst/>
          </a:prstGeom>
        </p:spPr>
      </p:pic>
    </p:spTree>
    <p:extLst>
      <p:ext uri="{BB962C8B-B14F-4D97-AF65-F5344CB8AC3E}">
        <p14:creationId xmlns:p14="http://schemas.microsoft.com/office/powerpoint/2010/main" val="7128743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Other Commands</a:t>
            </a:r>
          </a:p>
        </p:txBody>
      </p:sp>
      <p:sp>
        <p:nvSpPr>
          <p:cNvPr id="3" name="Content Placeholder 2"/>
          <p:cNvSpPr>
            <a:spLocks noGrp="1"/>
          </p:cNvSpPr>
          <p:nvPr>
            <p:ph sz="half" idx="1"/>
          </p:nvPr>
        </p:nvSpPr>
        <p:spPr>
          <a:xfrm>
            <a:off x="136949" y="1122282"/>
            <a:ext cx="8662494" cy="1117335"/>
          </a:xfrm>
        </p:spPr>
        <p:txBody>
          <a:bodyPr/>
          <a:lstStyle/>
          <a:p>
            <a:r>
              <a:rPr lang="en-US"/>
              <a:t>Print Speed</a:t>
            </a:r>
          </a:p>
          <a:p>
            <a:pPr lvl="1"/>
            <a:r>
              <a:rPr lang="en-US"/>
              <a:t>^PR – sets print rate to a value that you specify</a:t>
            </a:r>
          </a:p>
          <a:p>
            <a:pPr lvl="2"/>
            <a:r>
              <a:rPr lang="en-US"/>
              <a:t>^PR12 vs ^PR8</a:t>
            </a:r>
          </a:p>
          <a:p>
            <a:pPr lvl="2"/>
            <a:endParaRPr lang="en-US"/>
          </a:p>
          <a:p>
            <a:r>
              <a:rPr lang="en-US"/>
              <a:t>Darkness</a:t>
            </a:r>
          </a:p>
          <a:p>
            <a:pPr lvl="1"/>
            <a:r>
              <a:rPr lang="en-US"/>
              <a:t>~SD – sets darkness to a value that you specify</a:t>
            </a:r>
          </a:p>
          <a:p>
            <a:pPr lvl="1"/>
            <a:r>
              <a:rPr lang="en-US"/>
              <a:t>^MD– adjusts the darkness relative to the current setting</a:t>
            </a:r>
          </a:p>
          <a:p>
            <a:pPr lvl="2"/>
            <a:r>
              <a:rPr lang="en-US" b="1" i="1"/>
              <a:t>Note</a:t>
            </a:r>
            <a:r>
              <a:rPr lang="en-US" b="1"/>
              <a:t>:</a:t>
            </a:r>
            <a:r>
              <a:rPr lang="en-US"/>
              <a:t> The ^MD is persistent across label formats until an new ^MD command is issued or the printer power is cycled.</a:t>
            </a:r>
          </a:p>
          <a:p>
            <a:r>
              <a:rPr lang="en-US"/>
              <a:t>Orientation</a:t>
            </a:r>
          </a:p>
          <a:p>
            <a:pPr lvl="1"/>
            <a:r>
              <a:rPr lang="en-US"/>
              <a:t>^FW – sets the default orientation for command fields</a:t>
            </a:r>
          </a:p>
          <a:p>
            <a:pPr lvl="2"/>
            <a:r>
              <a:rPr lang="en-US"/>
              <a:t>^</a:t>
            </a:r>
            <a:r>
              <a:rPr lang="en-US" err="1"/>
              <a:t>FWr</a:t>
            </a:r>
            <a:endParaRPr lang="en-US"/>
          </a:p>
          <a:p>
            <a:pPr lvl="3"/>
            <a:r>
              <a:rPr lang="en-US"/>
              <a:t>R = rotate field;</a:t>
            </a:r>
          </a:p>
          <a:p>
            <a:pPr lvl="4"/>
            <a:r>
              <a:rPr lang="en-US"/>
              <a:t>N = normal, R = 90 degrees, I = 180 degrees, B = bottom-up 270 degrees</a:t>
            </a:r>
          </a:p>
          <a:p>
            <a:pPr lvl="3"/>
            <a:endParaRPr lang="en-US"/>
          </a:p>
        </p:txBody>
      </p:sp>
    </p:spTree>
    <p:extLst>
      <p:ext uri="{BB962C8B-B14F-4D97-AF65-F5344CB8AC3E}">
        <p14:creationId xmlns:p14="http://schemas.microsoft.com/office/powerpoint/2010/main" val="103377903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38400" y="453711"/>
            <a:ext cx="8715454" cy="300037"/>
          </a:xfrm>
        </p:spPr>
        <p:txBody>
          <a:bodyPr/>
          <a:lstStyle/>
          <a:p>
            <a:r>
              <a:rPr lang="en-US"/>
              <a:t>Example 1 Vendor Label: Font Size, Field Positions, Data Fields</a:t>
            </a:r>
          </a:p>
        </p:txBody>
      </p:sp>
      <p:sp>
        <p:nvSpPr>
          <p:cNvPr id="2" name="Content Placeholder 1"/>
          <p:cNvSpPr>
            <a:spLocks noGrp="1"/>
          </p:cNvSpPr>
          <p:nvPr>
            <p:ph idx="1"/>
          </p:nvPr>
        </p:nvSpPr>
        <p:spPr>
          <a:xfrm>
            <a:off x="138401" y="1122709"/>
            <a:ext cx="4398430" cy="5092354"/>
          </a:xfrm>
        </p:spPr>
        <p:txBody>
          <a:bodyPr/>
          <a:lstStyle/>
          <a:p>
            <a:r>
              <a:rPr lang="en-US"/>
              <a:t>Client would like for us to make the following changes to this label:</a:t>
            </a:r>
          </a:p>
          <a:p>
            <a:pPr lvl="1"/>
            <a:r>
              <a:rPr lang="en-US"/>
              <a:t>Add the Customer Item Number from Shipment Detail below SKU.</a:t>
            </a:r>
          </a:p>
          <a:p>
            <a:pPr lvl="1"/>
            <a:r>
              <a:rPr lang="en-US"/>
              <a:t>Increase the font size of the Ship From information</a:t>
            </a:r>
          </a:p>
          <a:p>
            <a:pPr lvl="1"/>
            <a:r>
              <a:rPr lang="en-US"/>
              <a:t>Center the Postal Code Barcode</a:t>
            </a:r>
          </a:p>
          <a:p>
            <a:pPr lvl="1"/>
            <a:endParaRPr lang="en-US"/>
          </a:p>
        </p:txBody>
      </p:sp>
      <p:pic>
        <p:nvPicPr>
          <p:cNvPr id="3" name="Picture 2"/>
          <p:cNvPicPr>
            <a:picLocks noChangeAspect="1"/>
          </p:cNvPicPr>
          <p:nvPr/>
        </p:nvPicPr>
        <p:blipFill>
          <a:blip r:embed="rId3"/>
          <a:stretch>
            <a:fillRect/>
          </a:stretch>
        </p:blipFill>
        <p:spPr>
          <a:xfrm>
            <a:off x="5029265" y="1122709"/>
            <a:ext cx="3407686" cy="5080967"/>
          </a:xfrm>
          <a:prstGeom prst="rect">
            <a:avLst/>
          </a:prstGeom>
        </p:spPr>
      </p:pic>
    </p:spTree>
    <p:extLst>
      <p:ext uri="{BB962C8B-B14F-4D97-AF65-F5344CB8AC3E}">
        <p14:creationId xmlns:p14="http://schemas.microsoft.com/office/powerpoint/2010/main" val="224009794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1 Vendor Label: Increase Font Size</a:t>
            </a:r>
            <a:br>
              <a:rPr lang="en-US"/>
            </a:br>
            <a:r>
              <a:rPr lang="en-US"/>
              <a:t>	</a:t>
            </a:r>
          </a:p>
        </p:txBody>
      </p:sp>
      <p:pic>
        <p:nvPicPr>
          <p:cNvPr id="5" name="Picture 4"/>
          <p:cNvPicPr>
            <a:picLocks noChangeAspect="1"/>
          </p:cNvPicPr>
          <p:nvPr/>
        </p:nvPicPr>
        <p:blipFill>
          <a:blip r:embed="rId2"/>
          <a:stretch>
            <a:fillRect/>
          </a:stretch>
        </p:blipFill>
        <p:spPr>
          <a:xfrm>
            <a:off x="138400" y="1490326"/>
            <a:ext cx="8581292" cy="1312588"/>
          </a:xfrm>
          <a:prstGeom prst="rect">
            <a:avLst/>
          </a:prstGeom>
        </p:spPr>
      </p:pic>
      <p:pic>
        <p:nvPicPr>
          <p:cNvPr id="6" name="Picture 5"/>
          <p:cNvPicPr>
            <a:picLocks noChangeAspect="1"/>
          </p:cNvPicPr>
          <p:nvPr/>
        </p:nvPicPr>
        <p:blipFill>
          <a:blip r:embed="rId3"/>
          <a:stretch>
            <a:fillRect/>
          </a:stretch>
        </p:blipFill>
        <p:spPr>
          <a:xfrm>
            <a:off x="978981" y="3623164"/>
            <a:ext cx="6838950" cy="1352550"/>
          </a:xfrm>
          <a:prstGeom prst="rect">
            <a:avLst/>
          </a:prstGeom>
        </p:spPr>
      </p:pic>
    </p:spTree>
    <p:extLst>
      <p:ext uri="{BB962C8B-B14F-4D97-AF65-F5344CB8AC3E}">
        <p14:creationId xmlns:p14="http://schemas.microsoft.com/office/powerpoint/2010/main" val="344756601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1 Vendor Label: Center Barcode</a:t>
            </a:r>
            <a:br>
              <a:rPr lang="en-US"/>
            </a:br>
            <a:r>
              <a:rPr lang="en-US"/>
              <a:t>	</a:t>
            </a:r>
          </a:p>
        </p:txBody>
      </p:sp>
      <p:pic>
        <p:nvPicPr>
          <p:cNvPr id="5" name="Picture 4"/>
          <p:cNvPicPr>
            <a:picLocks noChangeAspect="1"/>
          </p:cNvPicPr>
          <p:nvPr/>
        </p:nvPicPr>
        <p:blipFill>
          <a:blip r:embed="rId2"/>
          <a:stretch>
            <a:fillRect/>
          </a:stretch>
        </p:blipFill>
        <p:spPr>
          <a:xfrm>
            <a:off x="1038957" y="2308346"/>
            <a:ext cx="5905500" cy="676275"/>
          </a:xfrm>
          <a:prstGeom prst="rect">
            <a:avLst/>
          </a:prstGeom>
        </p:spPr>
      </p:pic>
      <p:pic>
        <p:nvPicPr>
          <p:cNvPr id="7" name="Picture 6"/>
          <p:cNvPicPr>
            <a:picLocks noChangeAspect="1"/>
          </p:cNvPicPr>
          <p:nvPr/>
        </p:nvPicPr>
        <p:blipFill>
          <a:blip r:embed="rId3"/>
          <a:stretch>
            <a:fillRect/>
          </a:stretch>
        </p:blipFill>
        <p:spPr>
          <a:xfrm>
            <a:off x="1143732" y="3897923"/>
            <a:ext cx="5800725" cy="838200"/>
          </a:xfrm>
          <a:prstGeom prst="rect">
            <a:avLst/>
          </a:prstGeom>
        </p:spPr>
      </p:pic>
    </p:spTree>
    <p:extLst>
      <p:ext uri="{BB962C8B-B14F-4D97-AF65-F5344CB8AC3E}">
        <p14:creationId xmlns:p14="http://schemas.microsoft.com/office/powerpoint/2010/main" val="158241593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023" y="506466"/>
            <a:ext cx="8520113" cy="300037"/>
          </a:xfrm>
        </p:spPr>
        <p:txBody>
          <a:bodyPr/>
          <a:lstStyle/>
          <a:p>
            <a:r>
              <a:rPr lang="en-US"/>
              <a:t>Example 1 Vendor Label: Add Data Field</a:t>
            </a:r>
            <a:br>
              <a:rPr lang="en-US"/>
            </a:br>
            <a:r>
              <a:rPr lang="en-US"/>
              <a:t>	</a:t>
            </a:r>
          </a:p>
        </p:txBody>
      </p:sp>
      <p:pic>
        <p:nvPicPr>
          <p:cNvPr id="5" name="Picture 4"/>
          <p:cNvPicPr>
            <a:picLocks noChangeAspect="1"/>
          </p:cNvPicPr>
          <p:nvPr/>
        </p:nvPicPr>
        <p:blipFill>
          <a:blip r:embed="rId2"/>
          <a:stretch>
            <a:fillRect/>
          </a:stretch>
        </p:blipFill>
        <p:spPr>
          <a:xfrm>
            <a:off x="450745" y="1028700"/>
            <a:ext cx="2923954" cy="5210945"/>
          </a:xfrm>
          <a:prstGeom prst="rect">
            <a:avLst/>
          </a:prstGeom>
        </p:spPr>
      </p:pic>
      <p:pic>
        <p:nvPicPr>
          <p:cNvPr id="8" name="Picture 7"/>
          <p:cNvPicPr>
            <a:picLocks noChangeAspect="1"/>
          </p:cNvPicPr>
          <p:nvPr/>
        </p:nvPicPr>
        <p:blipFill>
          <a:blip r:embed="rId3"/>
          <a:stretch>
            <a:fillRect/>
          </a:stretch>
        </p:blipFill>
        <p:spPr>
          <a:xfrm>
            <a:off x="3965330" y="4438649"/>
            <a:ext cx="4572000" cy="723900"/>
          </a:xfrm>
          <a:prstGeom prst="rect">
            <a:avLst/>
          </a:prstGeom>
        </p:spPr>
      </p:pic>
    </p:spTree>
    <p:extLst>
      <p:ext uri="{BB962C8B-B14F-4D97-AF65-F5344CB8AC3E}">
        <p14:creationId xmlns:p14="http://schemas.microsoft.com/office/powerpoint/2010/main" val="281518151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1: Before and After</a:t>
            </a:r>
          </a:p>
        </p:txBody>
      </p:sp>
      <p:pic>
        <p:nvPicPr>
          <p:cNvPr id="6" name="Picture 5"/>
          <p:cNvPicPr>
            <a:picLocks noChangeAspect="1"/>
          </p:cNvPicPr>
          <p:nvPr/>
        </p:nvPicPr>
        <p:blipFill>
          <a:blip r:embed="rId2"/>
          <a:stretch>
            <a:fillRect/>
          </a:stretch>
        </p:blipFill>
        <p:spPr>
          <a:xfrm>
            <a:off x="680608" y="944075"/>
            <a:ext cx="3509658" cy="5233010"/>
          </a:xfrm>
          <a:prstGeom prst="rect">
            <a:avLst/>
          </a:prstGeom>
        </p:spPr>
      </p:pic>
      <p:pic>
        <p:nvPicPr>
          <p:cNvPr id="7" name="Picture 6"/>
          <p:cNvPicPr>
            <a:picLocks noChangeAspect="1"/>
          </p:cNvPicPr>
          <p:nvPr/>
        </p:nvPicPr>
        <p:blipFill>
          <a:blip r:embed="rId3"/>
          <a:stretch>
            <a:fillRect/>
          </a:stretch>
        </p:blipFill>
        <p:spPr>
          <a:xfrm>
            <a:off x="4847573" y="944075"/>
            <a:ext cx="3500175" cy="5238411"/>
          </a:xfrm>
          <a:prstGeom prst="rect">
            <a:avLst/>
          </a:prstGeom>
        </p:spPr>
      </p:pic>
    </p:spTree>
    <p:extLst>
      <p:ext uri="{BB962C8B-B14F-4D97-AF65-F5344CB8AC3E}">
        <p14:creationId xmlns:p14="http://schemas.microsoft.com/office/powerpoint/2010/main" val="27474926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 ZPL</a:t>
            </a:r>
          </a:p>
        </p:txBody>
      </p:sp>
      <p:sp>
        <p:nvSpPr>
          <p:cNvPr id="3" name="Content Placeholder 2"/>
          <p:cNvSpPr>
            <a:spLocks noGrp="1"/>
          </p:cNvSpPr>
          <p:nvPr>
            <p:ph idx="1"/>
          </p:nvPr>
        </p:nvSpPr>
        <p:spPr>
          <a:xfrm>
            <a:off x="132050" y="1157878"/>
            <a:ext cx="8526463" cy="5092354"/>
          </a:xfrm>
        </p:spPr>
        <p:txBody>
          <a:bodyPr/>
          <a:lstStyle/>
          <a:p>
            <a:pPr marL="0" indent="0">
              <a:buNone/>
            </a:pPr>
            <a:r>
              <a:rPr lang="en-US"/>
              <a:t>Case Statement</a:t>
            </a:r>
          </a:p>
          <a:p>
            <a:r>
              <a:rPr lang="en-US"/>
              <a:t>[[SELECT CASE WHEN min(</a:t>
            </a:r>
            <a:r>
              <a:rPr lang="en-US" err="1"/>
              <a:t>shipping_container.item</a:t>
            </a:r>
            <a:r>
              <a:rPr lang="en-US"/>
              <a:t>) = max(</a:t>
            </a:r>
            <a:r>
              <a:rPr lang="en-US" err="1"/>
              <a:t>shipping_container.item</a:t>
            </a:r>
            <a:r>
              <a:rPr lang="en-US"/>
              <a:t>) THEN [[SHIPMENT_DETAIL.ITEM]] ELSE 'MIXED PALLET' END FROM SHIPMENT_DETAIL, SHIPPING_CONTAINER WHERE SHIPMENT_DETAIL.INTERNAL_SHIPMENT_LINE_NUM = SHIPPING_CONTAINER.INTERNAL_SHIPMENT_LINE_NUM AND]] ^FS </a:t>
            </a:r>
          </a:p>
          <a:p>
            <a:pPr marL="0" indent="0">
              <a:buNone/>
            </a:pPr>
            <a:r>
              <a:rPr lang="en-US"/>
              <a:t>Right Trim</a:t>
            </a:r>
          </a:p>
          <a:p>
            <a:r>
              <a:rPr lang="en-US"/>
              <a:t>[[SELECT left(</a:t>
            </a:r>
            <a:r>
              <a:rPr lang="en-US" err="1"/>
              <a:t>customer_po</a:t>
            </a:r>
            <a:r>
              <a:rPr lang="en-US"/>
              <a:t>, </a:t>
            </a:r>
            <a:r>
              <a:rPr lang="en-US" err="1"/>
              <a:t>len</a:t>
            </a:r>
            <a:r>
              <a:rPr lang="en-US"/>
              <a:t>(</a:t>
            </a:r>
            <a:r>
              <a:rPr lang="en-US" err="1"/>
              <a:t>customer_po</a:t>
            </a:r>
            <a:r>
              <a:rPr lang="en-US"/>
              <a:t>) -5) FROM SHIPMENT_DETAIL, SHIPPING_CONTAINER WHERE SHIPMENT_DETAIL.INTERNAL_SHIPMENT_LINE_NUM = SHIPPING_CONTAINER.INTERNAL_SHIPMENT_LINE_NUM AND]] ^FS</a:t>
            </a:r>
          </a:p>
          <a:p>
            <a:endParaRPr lang="en-US"/>
          </a:p>
        </p:txBody>
      </p:sp>
    </p:spTree>
    <p:extLst>
      <p:ext uri="{BB962C8B-B14F-4D97-AF65-F5344CB8AC3E}">
        <p14:creationId xmlns:p14="http://schemas.microsoft.com/office/powerpoint/2010/main" val="167858400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Case Statement Examples</a:t>
            </a:r>
          </a:p>
        </p:txBody>
      </p:sp>
      <p:pic>
        <p:nvPicPr>
          <p:cNvPr id="4" name="Picture 3"/>
          <p:cNvPicPr>
            <a:picLocks noChangeAspect="1"/>
          </p:cNvPicPr>
          <p:nvPr/>
        </p:nvPicPr>
        <p:blipFill>
          <a:blip r:embed="rId2"/>
          <a:stretch>
            <a:fillRect/>
          </a:stretch>
        </p:blipFill>
        <p:spPr>
          <a:xfrm>
            <a:off x="469537" y="922652"/>
            <a:ext cx="3533775" cy="5181600"/>
          </a:xfrm>
          <a:prstGeom prst="rect">
            <a:avLst/>
          </a:prstGeom>
        </p:spPr>
      </p:pic>
      <p:pic>
        <p:nvPicPr>
          <p:cNvPr id="5" name="Picture 4"/>
          <p:cNvPicPr>
            <a:picLocks noChangeAspect="1"/>
          </p:cNvPicPr>
          <p:nvPr/>
        </p:nvPicPr>
        <p:blipFill>
          <a:blip r:embed="rId3"/>
          <a:stretch>
            <a:fillRect/>
          </a:stretch>
        </p:blipFill>
        <p:spPr>
          <a:xfrm>
            <a:off x="4883198" y="922652"/>
            <a:ext cx="3514725" cy="5181600"/>
          </a:xfrm>
          <a:prstGeom prst="rect">
            <a:avLst/>
          </a:prstGeom>
        </p:spPr>
      </p:pic>
    </p:spTree>
    <p:extLst>
      <p:ext uri="{BB962C8B-B14F-4D97-AF65-F5344CB8AC3E}">
        <p14:creationId xmlns:p14="http://schemas.microsoft.com/office/powerpoint/2010/main" val="403726717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marL="0" indent="0" algn="ctr">
              <a:buNone/>
            </a:pPr>
            <a:endParaRPr lang="en-US" sz="4800" b="1"/>
          </a:p>
          <a:p>
            <a:pPr marL="0" indent="0" algn="ctr">
              <a:buNone/>
            </a:pPr>
            <a:endParaRPr lang="en-US" sz="4800" b="1"/>
          </a:p>
          <a:p>
            <a:pPr marL="0" indent="0" algn="ctr">
              <a:buNone/>
            </a:pPr>
            <a:r>
              <a:rPr lang="en-US" sz="4800" b="1"/>
              <a:t>Client Cases</a:t>
            </a:r>
            <a:endParaRPr lang="en-US" b="1"/>
          </a:p>
        </p:txBody>
      </p:sp>
    </p:spTree>
    <p:extLst>
      <p:ext uri="{BB962C8B-B14F-4D97-AF65-F5344CB8AC3E}">
        <p14:creationId xmlns:p14="http://schemas.microsoft.com/office/powerpoint/2010/main" val="78080801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334"/>
            <a:ext cx="8520113" cy="513443"/>
          </a:xfrm>
        </p:spPr>
        <p:txBody>
          <a:bodyPr/>
          <a:lstStyle/>
          <a:p>
            <a:r>
              <a:rPr lang="en-US"/>
              <a:t>Client Case 1: Dish Break Label and Container Contents Label</a:t>
            </a:r>
          </a:p>
        </p:txBody>
      </p:sp>
      <p:sp>
        <p:nvSpPr>
          <p:cNvPr id="3" name="Content Placeholder 2"/>
          <p:cNvSpPr>
            <a:spLocks noGrp="1"/>
          </p:cNvSpPr>
          <p:nvPr>
            <p:ph idx="1"/>
          </p:nvPr>
        </p:nvSpPr>
        <p:spPr/>
        <p:txBody>
          <a:bodyPr/>
          <a:lstStyle/>
          <a:p>
            <a:r>
              <a:rPr lang="en-US" b="1"/>
              <a:t>Requirement: “</a:t>
            </a:r>
            <a:r>
              <a:rPr lang="en-US"/>
              <a:t>We want to build our carts by container type.  We want our labels for parcel shipments to be grouped by container type while printing and we need to know how many of each container type will be used.  The users will be handed a stack of labels, starting with the break label, which will tell them how many of a specific container type are needed.  Then, they find the container types and then put them on a cart for picking.  We also need the Container ID barcoded.”</a:t>
            </a:r>
          </a:p>
          <a:p>
            <a:r>
              <a:rPr lang="en-US" b="1"/>
              <a:t>Resolution: </a:t>
            </a:r>
            <a:r>
              <a:rPr lang="en-US"/>
              <a:t>We can configure our Label Master criteria to order our labels by Container Type, and can stamp the Container Type and count on Break Labels.  We can have a Break Label print for every Container Type. We will add a barcode to the top of the container contents label for the Container ID.</a:t>
            </a:r>
          </a:p>
          <a:p>
            <a:endParaRPr lang="en-US"/>
          </a:p>
        </p:txBody>
      </p:sp>
    </p:spTree>
    <p:extLst>
      <p:ext uri="{BB962C8B-B14F-4D97-AF65-F5344CB8AC3E}">
        <p14:creationId xmlns:p14="http://schemas.microsoft.com/office/powerpoint/2010/main" val="130788690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Client Case 1: Dish Label Master Criteria</a:t>
            </a:r>
          </a:p>
        </p:txBody>
      </p:sp>
      <p:pic>
        <p:nvPicPr>
          <p:cNvPr id="4" name="Content Placeholder 3"/>
          <p:cNvPicPr>
            <a:picLocks noGrp="1" noChangeAspect="1"/>
          </p:cNvPicPr>
          <p:nvPr>
            <p:ph idx="1"/>
          </p:nvPr>
        </p:nvPicPr>
        <p:blipFill>
          <a:blip r:embed="rId2"/>
          <a:stretch>
            <a:fillRect/>
          </a:stretch>
        </p:blipFill>
        <p:spPr>
          <a:xfrm>
            <a:off x="1571214" y="1122363"/>
            <a:ext cx="5660259" cy="5092700"/>
          </a:xfrm>
          <a:prstGeom prst="rect">
            <a:avLst/>
          </a:prstGeom>
        </p:spPr>
      </p:pic>
    </p:spTree>
    <p:extLst>
      <p:ext uri="{BB962C8B-B14F-4D97-AF65-F5344CB8AC3E}">
        <p14:creationId xmlns:p14="http://schemas.microsoft.com/office/powerpoint/2010/main" val="234036232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Client Case 1: Dish Break Label Stored Procedure</a:t>
            </a:r>
          </a:p>
        </p:txBody>
      </p:sp>
      <p:pic>
        <p:nvPicPr>
          <p:cNvPr id="4" name="Picture 3"/>
          <p:cNvPicPr>
            <a:picLocks noChangeAspect="1"/>
          </p:cNvPicPr>
          <p:nvPr/>
        </p:nvPicPr>
        <p:blipFill>
          <a:blip r:embed="rId2"/>
          <a:stretch>
            <a:fillRect/>
          </a:stretch>
        </p:blipFill>
        <p:spPr>
          <a:xfrm>
            <a:off x="138400" y="1534156"/>
            <a:ext cx="8829281" cy="3665806"/>
          </a:xfrm>
          <a:prstGeom prst="rect">
            <a:avLst/>
          </a:prstGeom>
        </p:spPr>
      </p:pic>
    </p:spTree>
    <p:extLst>
      <p:ext uri="{BB962C8B-B14F-4D97-AF65-F5344CB8AC3E}">
        <p14:creationId xmlns:p14="http://schemas.microsoft.com/office/powerpoint/2010/main" val="378971633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Client Case 1: Dish Break Label ZPL</a:t>
            </a:r>
          </a:p>
        </p:txBody>
      </p:sp>
      <p:pic>
        <p:nvPicPr>
          <p:cNvPr id="7" name="Picture 6"/>
          <p:cNvPicPr>
            <a:picLocks noChangeAspect="1"/>
          </p:cNvPicPr>
          <p:nvPr/>
        </p:nvPicPr>
        <p:blipFill>
          <a:blip r:embed="rId3"/>
          <a:stretch>
            <a:fillRect/>
          </a:stretch>
        </p:blipFill>
        <p:spPr>
          <a:xfrm>
            <a:off x="86238" y="1101687"/>
            <a:ext cx="9057762" cy="4847708"/>
          </a:xfrm>
          <a:prstGeom prst="rect">
            <a:avLst/>
          </a:prstGeom>
        </p:spPr>
      </p:pic>
    </p:spTree>
    <p:extLst>
      <p:ext uri="{BB962C8B-B14F-4D97-AF65-F5344CB8AC3E}">
        <p14:creationId xmlns:p14="http://schemas.microsoft.com/office/powerpoint/2010/main" val="167490994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Client Case 1: Dish Break Label Example</a:t>
            </a:r>
          </a:p>
        </p:txBody>
      </p:sp>
      <p:pic>
        <p:nvPicPr>
          <p:cNvPr id="4" name="Picture 3"/>
          <p:cNvPicPr>
            <a:picLocks noChangeAspect="1"/>
          </p:cNvPicPr>
          <p:nvPr/>
        </p:nvPicPr>
        <p:blipFill>
          <a:blip r:embed="rId2"/>
          <a:stretch>
            <a:fillRect/>
          </a:stretch>
        </p:blipFill>
        <p:spPr>
          <a:xfrm>
            <a:off x="2523083" y="996118"/>
            <a:ext cx="3750745" cy="5107227"/>
          </a:xfrm>
          <a:prstGeom prst="rect">
            <a:avLst/>
          </a:prstGeom>
        </p:spPr>
      </p:pic>
    </p:spTree>
    <p:extLst>
      <p:ext uri="{BB962C8B-B14F-4D97-AF65-F5344CB8AC3E}">
        <p14:creationId xmlns:p14="http://schemas.microsoft.com/office/powerpoint/2010/main" val="160910929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19812"/>
            <a:ext cx="8520113" cy="300037"/>
          </a:xfrm>
        </p:spPr>
        <p:txBody>
          <a:bodyPr/>
          <a:lstStyle/>
          <a:p>
            <a:r>
              <a:rPr lang="en-US"/>
              <a:t>Client Case 1: Dish Container Contents Label ZPL</a:t>
            </a:r>
          </a:p>
        </p:txBody>
      </p:sp>
      <p:pic>
        <p:nvPicPr>
          <p:cNvPr id="3" name="Picture 2"/>
          <p:cNvPicPr>
            <a:picLocks noChangeAspect="1"/>
          </p:cNvPicPr>
          <p:nvPr/>
        </p:nvPicPr>
        <p:blipFill>
          <a:blip r:embed="rId2"/>
          <a:stretch>
            <a:fillRect/>
          </a:stretch>
        </p:blipFill>
        <p:spPr>
          <a:xfrm>
            <a:off x="435395" y="1037078"/>
            <a:ext cx="7810500" cy="5048250"/>
          </a:xfrm>
          <a:prstGeom prst="rect">
            <a:avLst/>
          </a:prstGeom>
        </p:spPr>
      </p:pic>
    </p:spTree>
    <p:extLst>
      <p:ext uri="{BB962C8B-B14F-4D97-AF65-F5344CB8AC3E}">
        <p14:creationId xmlns:p14="http://schemas.microsoft.com/office/powerpoint/2010/main" val="127248599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19812"/>
            <a:ext cx="8520113" cy="300037"/>
          </a:xfrm>
        </p:spPr>
        <p:txBody>
          <a:bodyPr/>
          <a:lstStyle/>
          <a:p>
            <a:r>
              <a:rPr lang="en-US"/>
              <a:t>Client Case 1: Dish Container Contents Label Example</a:t>
            </a:r>
          </a:p>
        </p:txBody>
      </p:sp>
      <p:pic>
        <p:nvPicPr>
          <p:cNvPr id="4" name="Picture 3"/>
          <p:cNvPicPr>
            <a:picLocks noChangeAspect="1"/>
          </p:cNvPicPr>
          <p:nvPr/>
        </p:nvPicPr>
        <p:blipFill>
          <a:blip r:embed="rId2"/>
          <a:stretch>
            <a:fillRect/>
          </a:stretch>
        </p:blipFill>
        <p:spPr>
          <a:xfrm>
            <a:off x="2633662" y="1156771"/>
            <a:ext cx="3876675" cy="5163066"/>
          </a:xfrm>
          <a:prstGeom prst="rect">
            <a:avLst/>
          </a:prstGeom>
        </p:spPr>
      </p:pic>
    </p:spTree>
    <p:extLst>
      <p:ext uri="{BB962C8B-B14F-4D97-AF65-F5344CB8AC3E}">
        <p14:creationId xmlns:p14="http://schemas.microsoft.com/office/powerpoint/2010/main" val="2140914560"/>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334"/>
            <a:ext cx="8520113" cy="513443"/>
          </a:xfrm>
        </p:spPr>
        <p:txBody>
          <a:bodyPr/>
          <a:lstStyle/>
          <a:p>
            <a:r>
              <a:rPr lang="en-US"/>
              <a:t>Client Case 2: Keeco LL Bean Vendor Label</a:t>
            </a:r>
          </a:p>
        </p:txBody>
      </p:sp>
      <p:sp>
        <p:nvSpPr>
          <p:cNvPr id="3" name="Content Placeholder 2"/>
          <p:cNvSpPr>
            <a:spLocks noGrp="1"/>
          </p:cNvSpPr>
          <p:nvPr>
            <p:ph idx="1"/>
          </p:nvPr>
        </p:nvSpPr>
        <p:spPr/>
        <p:txBody>
          <a:bodyPr/>
          <a:lstStyle/>
          <a:p>
            <a:r>
              <a:rPr lang="en-US"/>
              <a:t>Requirement: LL Bean requires a custom vendor label with very specific guidelines.  They are not a top 100 retailer, so Manhattan does not have the label developed.  The client asked the PSO team to assist with development.</a:t>
            </a:r>
          </a:p>
          <a:p>
            <a:r>
              <a:rPr lang="en-US"/>
              <a:t>Resolution:  Use the generic vendor label as a template and then edit it to match the requirement.  Use the ^GB command to draw out the lines needed on the label and then input the necessary field commands.</a:t>
            </a:r>
          </a:p>
        </p:txBody>
      </p:sp>
    </p:spTree>
    <p:extLst>
      <p:ext uri="{BB962C8B-B14F-4D97-AF65-F5344CB8AC3E}">
        <p14:creationId xmlns:p14="http://schemas.microsoft.com/office/powerpoint/2010/main" val="309455956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70" y="597146"/>
            <a:ext cx="8520113" cy="300037"/>
          </a:xfrm>
        </p:spPr>
        <p:txBody>
          <a:bodyPr/>
          <a:lstStyle/>
          <a:p>
            <a:r>
              <a:rPr lang="en-US"/>
              <a:t>Client Case 2: Keeco LL Bean Vendor Label</a:t>
            </a:r>
          </a:p>
        </p:txBody>
      </p:sp>
      <p:pic>
        <p:nvPicPr>
          <p:cNvPr id="4" name="Picture 3"/>
          <p:cNvPicPr>
            <a:picLocks noChangeAspect="1"/>
          </p:cNvPicPr>
          <p:nvPr/>
        </p:nvPicPr>
        <p:blipFill>
          <a:blip r:embed="rId2"/>
          <a:stretch>
            <a:fillRect/>
          </a:stretch>
        </p:blipFill>
        <p:spPr>
          <a:xfrm>
            <a:off x="4654061" y="1447799"/>
            <a:ext cx="2895600" cy="4276725"/>
          </a:xfrm>
          <a:prstGeom prst="rect">
            <a:avLst/>
          </a:prstGeom>
        </p:spPr>
      </p:pic>
      <p:pic>
        <p:nvPicPr>
          <p:cNvPr id="5" name="Picture 4"/>
          <p:cNvPicPr>
            <a:picLocks noChangeAspect="1"/>
          </p:cNvPicPr>
          <p:nvPr/>
        </p:nvPicPr>
        <p:blipFill>
          <a:blip r:embed="rId3"/>
          <a:stretch>
            <a:fillRect/>
          </a:stretch>
        </p:blipFill>
        <p:spPr>
          <a:xfrm>
            <a:off x="766028" y="1667606"/>
            <a:ext cx="3057525" cy="3962400"/>
          </a:xfrm>
          <a:prstGeom prst="rect">
            <a:avLst/>
          </a:prstGeom>
        </p:spPr>
      </p:pic>
    </p:spTree>
    <p:extLst>
      <p:ext uri="{BB962C8B-B14F-4D97-AF65-F5344CB8AC3E}">
        <p14:creationId xmlns:p14="http://schemas.microsoft.com/office/powerpoint/2010/main" val="227620193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Client Case 3: Dish Customer Returns Label</a:t>
            </a:r>
          </a:p>
        </p:txBody>
      </p:sp>
      <p:sp>
        <p:nvSpPr>
          <p:cNvPr id="3" name="Content Placeholder 2"/>
          <p:cNvSpPr>
            <a:spLocks noGrp="1"/>
          </p:cNvSpPr>
          <p:nvPr>
            <p:ph idx="1"/>
          </p:nvPr>
        </p:nvSpPr>
        <p:spPr/>
        <p:txBody>
          <a:bodyPr/>
          <a:lstStyle/>
          <a:p>
            <a:r>
              <a:rPr lang="en-US"/>
              <a:t>Requirement: Dish needs an LPN label for each item that is returned.  The items are small, so they need a 2x3 version of the receipt container label to print during check in.  The label needs to print horizontally as well.</a:t>
            </a:r>
          </a:p>
          <a:p>
            <a:r>
              <a:rPr lang="en-US"/>
              <a:t>Resolution:  Use label </a:t>
            </a:r>
            <a:r>
              <a:rPr lang="en-US" err="1"/>
              <a:t>lary</a:t>
            </a:r>
            <a:r>
              <a:rPr lang="en-US"/>
              <a:t> to format the label with a 2x3 size, and use the ^FW command to rotate the label 90 degrees.</a:t>
            </a:r>
          </a:p>
          <a:p>
            <a:endParaRPr lang="en-US"/>
          </a:p>
        </p:txBody>
      </p:sp>
    </p:spTree>
    <p:extLst>
      <p:ext uri="{BB962C8B-B14F-4D97-AF65-F5344CB8AC3E}">
        <p14:creationId xmlns:p14="http://schemas.microsoft.com/office/powerpoint/2010/main" val="2171763377"/>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334"/>
            <a:ext cx="8520113" cy="513443"/>
          </a:xfrm>
        </p:spPr>
        <p:txBody>
          <a:bodyPr/>
          <a:lstStyle/>
          <a:p>
            <a:r>
              <a:rPr lang="en-US"/>
              <a:t>Client Case 3: Dish Customer Returns Label</a:t>
            </a:r>
          </a:p>
        </p:txBody>
      </p:sp>
      <p:pic>
        <p:nvPicPr>
          <p:cNvPr id="5" name="Picture 4"/>
          <p:cNvPicPr>
            <a:picLocks noChangeAspect="1"/>
          </p:cNvPicPr>
          <p:nvPr/>
        </p:nvPicPr>
        <p:blipFill>
          <a:blip r:embed="rId2"/>
          <a:stretch>
            <a:fillRect/>
          </a:stretch>
        </p:blipFill>
        <p:spPr>
          <a:xfrm>
            <a:off x="0" y="1388968"/>
            <a:ext cx="5305425" cy="3143250"/>
          </a:xfrm>
          <a:prstGeom prst="rect">
            <a:avLst/>
          </a:prstGeom>
        </p:spPr>
      </p:pic>
      <p:pic>
        <p:nvPicPr>
          <p:cNvPr id="3074" name="Picture 2" descr="b6ecfb80-5698-4955-90f9-802172ebc839@namprd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8119" y="1825901"/>
            <a:ext cx="3248306" cy="2419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388083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Resources for Editing ZPL Labels </a:t>
            </a:r>
          </a:p>
        </p:txBody>
      </p:sp>
      <p:sp>
        <p:nvSpPr>
          <p:cNvPr id="3" name="Content Placeholder 2"/>
          <p:cNvSpPr>
            <a:spLocks noGrp="1"/>
          </p:cNvSpPr>
          <p:nvPr>
            <p:ph sz="half" idx="1"/>
          </p:nvPr>
        </p:nvSpPr>
        <p:spPr>
          <a:xfrm>
            <a:off x="136949" y="1238865"/>
            <a:ext cx="7994328" cy="4954766"/>
          </a:xfrm>
        </p:spPr>
        <p:txBody>
          <a:bodyPr/>
          <a:lstStyle/>
          <a:p>
            <a:r>
              <a:rPr lang="en-US"/>
              <a:t>Label File Directory: C:\Program Files\Manhattan Associates\ILS\2016\Printing	</a:t>
            </a:r>
          </a:p>
          <a:p>
            <a:r>
              <a:rPr lang="en-US"/>
              <a:t>Spool File: C:\Windows\System32\spool\PRINTERS</a:t>
            </a:r>
          </a:p>
          <a:p>
            <a:r>
              <a:rPr lang="en-US" err="1"/>
              <a:t>Labelary</a:t>
            </a:r>
            <a:r>
              <a:rPr lang="en-US"/>
              <a:t>: http://labelary.com/</a:t>
            </a:r>
          </a:p>
          <a:p>
            <a:r>
              <a:rPr lang="en-US"/>
              <a:t>Wave Label File: C:\Program Files\Manhattan Associates\ILS\2021\Printing\</a:t>
            </a:r>
            <a:r>
              <a:rPr lang="en-US" err="1"/>
              <a:t>WaveLabels</a:t>
            </a:r>
            <a:endParaRPr lang="en-US"/>
          </a:p>
          <a:p>
            <a:pPr lvl="1"/>
            <a:r>
              <a:rPr lang="en-US"/>
              <a:t>.WLI file – document type, printer, number of copies, errors, etc.</a:t>
            </a:r>
          </a:p>
          <a:p>
            <a:pPr lvl="1"/>
            <a:r>
              <a:rPr lang="en-US"/>
              <a:t>.WLD file – </a:t>
            </a:r>
            <a:r>
              <a:rPr lang="en-US" err="1"/>
              <a:t>zpl</a:t>
            </a:r>
            <a:r>
              <a:rPr lang="en-US"/>
              <a:t> output</a:t>
            </a:r>
          </a:p>
          <a:p>
            <a:r>
              <a:rPr lang="en-US"/>
              <a:t>ZPL Programming Guide: https://www.zebra.com/content/dam/zebra/manuals/en-us/software/zplii-pm-vol1.pdf</a:t>
            </a:r>
          </a:p>
        </p:txBody>
      </p:sp>
    </p:spTree>
    <p:extLst>
      <p:ext uri="{BB962C8B-B14F-4D97-AF65-F5344CB8AC3E}">
        <p14:creationId xmlns:p14="http://schemas.microsoft.com/office/powerpoint/2010/main" val="809531583"/>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Summary</a:t>
            </a:r>
          </a:p>
        </p:txBody>
      </p:sp>
    </p:spTree>
    <p:extLst>
      <p:ext uri="{BB962C8B-B14F-4D97-AF65-F5344CB8AC3E}">
        <p14:creationId xmlns:p14="http://schemas.microsoft.com/office/powerpoint/2010/main" val="235480936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16160&quot;&gt;&lt;version val=&quot;17973&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mruColor&gt;&lt;m_vecMRU length=&quot;0&quot;/&gt;&lt;/m_mruColor&gt;&lt;m_agendatheme&gt;&lt;m_aagendaitemprops&gt;&lt;elem&gt;&lt;m_bVisible val=&quot;1&quot;/&gt;&lt;m_font&gt;&lt;m_bBold val=&quot;1&quot;/&gt;&lt;/m_font&gt;&lt;m_colFont&gt;&lt;m_ppcolschidx val=&quot;2&quot;/&gt;&lt;/m_colFont&gt;&lt;m_fill&gt;&lt;m_bVisible val=&quot;0&quot;/&gt;&lt;/m_fill&gt;&lt;m_linestyle&gt;&lt;m_bVisible val=&quot;1&quot;/&gt;&lt;m_nWeight val=&quot;6&quot;/&gt;&lt;m_col&gt;&lt;m_ppcolschidx val=&quot;2&quot;/&gt;&lt;/m_col&gt;&lt;m_msolinedashstyle val=&quot;1&quot;/&gt;&lt;m_msoarrowheadstyleBegin val=&quot;1&quot;/&gt;&lt;m_msoarrowheadstyleEnd val=&quot;1&quot;/&gt;&lt;/m_linestyle&gt;&lt;/elem&gt;&lt;elem&gt;&lt;m_bVisible val=&quot;1&quot;/&gt;&lt;m_font&gt;&lt;m_bBold val=&quot;1&quot;/&gt;&lt;/m_font&gt;&lt;m_colFont&gt;&lt;m_ppcolschidx val=&quot;2&quot;/&gt;&lt;/m_colFont&gt;&lt;m_fill&gt;&lt;m_bVisible val=&quot;0&quot;/&gt;&lt;/m_fill&gt;&lt;m_linestyle&gt;&lt;m_bVisible val=&quot;0&quot;/&gt;&lt;/m_linestyle&gt;&lt;/elem&gt;&lt;elem&gt;&lt;m_bVisible val=&quot;1&quot;/&gt;&lt;m_font&gt;&lt;m_bBold val=&quot;0&quot;/&gt;&lt;/m_font&gt;&lt;m_colFont&gt;&lt;m_ppcolschidx val=&quot;2&quot;/&gt;&lt;/m_colFont&gt;&lt;m_fill&gt;&lt;m_bVisible val=&quot;0&quot;/&gt;&lt;/m_fill&gt;&lt;m_linestyle&gt;&lt;m_bVisible val=&quot;0&quot;/&gt;&lt;/m_linestyle&gt;&lt;/elem&gt;&lt;elem&gt;&lt;m_bVisible val=&quot;1&quot;/&gt;&lt;m_font&gt;&lt;m_bBold val=&quot;1&quot;/&gt;&lt;/m_font&gt;&lt;m_colFont&gt;&lt;m_ppcolschidx val=&quot;2&quot;/&gt;&lt;/m_colFont&gt;&lt;m_fill&gt;&lt;m_bVisible val=&quot;0&quot;/&gt;&lt;/m_fill&gt;&lt;m_linestyle&gt;&lt;m_bVisible val=&quot;1&quot;/&gt;&lt;m_nWeight val=&quot;6&quot;/&gt;&lt;m_col&gt;&lt;m_ppcolschidx val=&quot;2&quot;/&gt;&lt;/m_col&gt;&lt;m_msolinedashstyle val=&quot;1&quot;/&gt;&lt;m_msoarrowheadstyleBegin val=&quot;1&quot;/&gt;&lt;m_msoarrowheadstyleEnd val=&quot;1&quot;/&gt;&lt;/m_linestyle&gt;&lt;/elem&gt;&lt;elem&gt;&lt;m_bVisible val=&quot;1&quot;/&gt;&lt;m_font&gt;&lt;m_bBold val=&quot;0&quot;/&gt;&lt;/m_font&gt;&lt;m_colFont&gt;&lt;m_ppcolschidx val=&quot;2&quot;/&gt;&lt;/m_colFont&gt;&lt;m_fill&gt;&lt;m_bVisible val=&quot;0&quot;/&gt;&lt;/m_fill&gt;&lt;m_linestyle&gt;&lt;m_bVisible val=&quot;0&quot;/&gt;&lt;/m_linestyle&gt;&lt;/elem&gt;&lt;elem&gt;&lt;m_bVisible val=&quot;1&quot;/&gt;&lt;m_font&gt;&lt;m_bBold val=&quot;0&quot;/&gt;&lt;/m_font&gt;&lt;m_colFont&gt;&lt;m_ppcolschidx val=&quot;2&quot;/&gt;&lt;/m_colFont&gt;&lt;m_fill&gt;&lt;m_bVisible val=&quot;0&quot;/&gt;&lt;/m_fill&gt;&lt;m_linestyle&gt;&lt;m_bVisible val=&quot;0&quot;/&gt;&lt;/m_linestyle&gt;&lt;/elem&gt;&lt;elem&gt;&lt;m_bVisible val=&quot;1&quot;/&gt;&lt;m_font&gt;&lt;m_bBold val=&quot;0&quot;/&gt;&lt;/m_font&gt;&lt;m_colFont&gt;&lt;m_ppcolschidx val=&quot;2&quot;/&gt;&lt;/m_colFont&gt;&lt;m_fill&gt;&lt;m_bVisible val=&quot;0&quot;/&gt;&lt;/m_fill&gt;&lt;m_linestyle&gt;&lt;m_bVisible val=&quot;0&quot;/&gt;&lt;/m_linestyle&gt;&lt;/elem&gt;&lt;elem&gt;&lt;m_bVisible val=&quot;1&quot;/&gt;&lt;m_font&gt;&lt;m_bBold val=&quot;0&quot;/&gt;&lt;/m_font&gt;&lt;m_colFont&gt;&lt;m_ppcolschidx val=&quot;2&quot;/&gt;&lt;/m_colFont&gt;&lt;m_fill&gt;&lt;m_bVisible val=&quot;0&quot;/&gt;&lt;/m_fill&gt;&lt;m_linestyle&gt;&lt;m_bVisible val=&quot;0&quot;/&gt;&lt;/m_linestyle&gt;&lt;/elem&gt;&lt;elem&gt;&lt;m_bVisible val=&quot;0&quot;/&gt;&lt;/elem&gt;&lt;elem&gt;&lt;m_bVisible val=&quot;1&quot;/&gt;&lt;m_font&gt;&lt;m_bBold val=&quot;0&quot;/&gt;&lt;/m_font&gt;&lt;m_colFont&gt;&lt;m_ppcolschidx val=&quot;2&quot;/&gt;&lt;/m_colFont&gt;&lt;m_fill&gt;&lt;m_bVisible val=&quot;0&quot;/&gt;&lt;/m_fill&gt;&lt;m_linestyle&gt;&lt;m_bVisible val=&quot;0&quot;/&gt;&lt;/m_linestyle&gt;&lt;/elem&gt;&lt;elem&gt;&lt;m_bVisible val=&quot;0&quot;/&gt;&lt;/elem&gt;&lt;/m_aagendaitemprops&gt;&lt;m_linestyleTopBottomLine&gt;&lt;m_bVisible val=&quot;0&quot;/&gt;&lt;/m_linestyleTopBottomLine&gt;&lt;/m_agendatheme&gt;&lt;m_mapectfillschemeMRU&gt;&lt;key val=&quot;3&quot;/&gt;&lt;elem&gt;&lt;m_nPartnerID val=&quot;530&quot;/&gt;&lt;m_nIndex val=&quot;2&quot;/&gt;&lt;/elem&gt;&lt;/m_mapectfillschemeMRU&gt;&lt;m_eweekdayFirstOfWeek val=&quot;1&quot;/&gt;&lt;m_eweekdayFirstOfWorkweek val=&quot;2&quot;/&gt;&lt;m_eweekdayFirstOfWeekend val=&quot;7&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chDecimalSymbol17909&gt;.&lt;/m_chDecimalSymbol17909&gt;&lt;m_nGroupingDigits17909 val=&quot;3&quot;/&gt;&lt;m_chGroupingSymbol17909&gt;,&lt;/m_chGroupingSymbol17909&gt;&lt;/m_precDefault&gt;&lt;/CDefaultPrec&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lank">
  <a:themeElements>
    <a:clrScheme name="MANH 2013">
      <a:dk1>
        <a:srgbClr val="000000"/>
      </a:dk1>
      <a:lt1>
        <a:srgbClr val="FFFFFF"/>
      </a:lt1>
      <a:dk2>
        <a:srgbClr val="FFFFFF"/>
      </a:dk2>
      <a:lt2>
        <a:srgbClr val="002E5F"/>
      </a:lt2>
      <a:accent1>
        <a:srgbClr val="005195"/>
      </a:accent1>
      <a:accent2>
        <a:srgbClr val="000000"/>
      </a:accent2>
      <a:accent3>
        <a:srgbClr val="8E931E"/>
      </a:accent3>
      <a:accent4>
        <a:srgbClr val="005C84"/>
      </a:accent4>
      <a:accent5>
        <a:srgbClr val="00B4CB"/>
      </a:accent5>
      <a:accent6>
        <a:srgbClr val="E17000"/>
      </a:accent6>
      <a:hlink>
        <a:srgbClr val="4EA7A3"/>
      </a:hlink>
      <a:folHlink>
        <a:srgbClr val="3A5C76"/>
      </a:folHlink>
    </a:clrScheme>
    <a:fontScheme name="1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marL="111125" marR="0" indent="-111125" algn="l" defTabSz="914400" rtl="0" eaLnBrk="1" fontAlgn="base" latinLnBrk="0" hangingPunct="1">
          <a:lnSpc>
            <a:spcPct val="100000"/>
          </a:lnSpc>
          <a:spcBef>
            <a:spcPct val="50000"/>
          </a:spcBef>
          <a:spcAft>
            <a:spcPct val="0"/>
          </a:spcAft>
          <a:buClrTx/>
          <a:buSzTx/>
          <a:tabLst/>
          <a:defRPr kumimoji="0" sz="1200" b="0" i="0" u="none" strike="noStrike" cap="none" normalizeH="0" baseline="0" dirty="0" smtClean="0">
            <a:ln>
              <a:noFill/>
            </a:ln>
            <a:solidFill>
              <a:schemeClr val="tx1"/>
            </a:solidFill>
            <a:effectLst/>
            <a:latin typeface="Arial" charset="0"/>
          </a:defRPr>
        </a:defPPr>
      </a:lstStyle>
    </a:spDef>
    <a:lnDef>
      <a:spPr bwMode="auto">
        <a:noFill/>
        <a:ln w="9525" cap="flat" cmpd="sng" algn="ctr">
          <a:solidFill>
            <a:srgbClr val="003478"/>
          </a:solidFill>
          <a:prstDash val="solid"/>
          <a:round/>
          <a:headEnd type="none" w="med" len="med"/>
          <a:tailEnd type="none" w="med" len="med"/>
        </a:ln>
        <a:effectLst/>
      </a:spPr>
      <a:bodyPr/>
      <a:lstStyle/>
    </a:lnDef>
    <a:txDef>
      <a:spPr>
        <a:noFill/>
      </a:spPr>
      <a:bodyPr wrap="square" rtlCol="0">
        <a:noAutofit/>
      </a:bodyPr>
      <a:lstStyle>
        <a:defPPr algn="l">
          <a:defRPr dirty="0" smtClean="0">
            <a:solidFill>
              <a:schemeClr val="tx1"/>
            </a:solidFill>
          </a:defRPr>
        </a:defPPr>
      </a:lstStyle>
    </a:txDef>
  </a:objectDefaults>
  <a:extraClrSchemeLst>
    <a:extraClrScheme>
      <a:clrScheme name="1_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blank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blank 13">
        <a:dk1>
          <a:srgbClr val="787878"/>
        </a:dk1>
        <a:lt1>
          <a:srgbClr val="FFFFFF"/>
        </a:lt1>
        <a:dk2>
          <a:srgbClr val="FFFFFF"/>
        </a:dk2>
        <a:lt2>
          <a:srgbClr val="F0963E"/>
        </a:lt2>
        <a:accent1>
          <a:srgbClr val="2A8FC0"/>
        </a:accent1>
        <a:accent2>
          <a:srgbClr val="1B3A7F"/>
        </a:accent2>
        <a:accent3>
          <a:srgbClr val="FFFFFF"/>
        </a:accent3>
        <a:accent4>
          <a:srgbClr val="656565"/>
        </a:accent4>
        <a:accent5>
          <a:srgbClr val="ACC6DC"/>
        </a:accent5>
        <a:accent6>
          <a:srgbClr val="173472"/>
        </a:accent6>
        <a:hlink>
          <a:srgbClr val="4EA7A3"/>
        </a:hlink>
        <a:folHlink>
          <a:srgbClr val="99CC00"/>
        </a:folHlink>
      </a:clrScheme>
      <a:clrMap bg1="lt1" tx1="dk1" bg2="lt2" tx2="dk2" accent1="accent1" accent2="accent2" accent3="accent3" accent4="accent4" accent5="accent5" accent6="accent6" hlink="hlink" folHlink="folHlink"/>
    </a:extraClrScheme>
    <a:extraClrScheme>
      <a:clrScheme name="1_blank 14">
        <a:dk1>
          <a:srgbClr val="787878"/>
        </a:dk1>
        <a:lt1>
          <a:srgbClr val="FFFFFF"/>
        </a:lt1>
        <a:dk2>
          <a:srgbClr val="FFFFFF"/>
        </a:dk2>
        <a:lt2>
          <a:srgbClr val="F0963E"/>
        </a:lt2>
        <a:accent1>
          <a:srgbClr val="2A8FC0"/>
        </a:accent1>
        <a:accent2>
          <a:srgbClr val="1B3A7F"/>
        </a:accent2>
        <a:accent3>
          <a:srgbClr val="FFFFFF"/>
        </a:accent3>
        <a:accent4>
          <a:srgbClr val="656565"/>
        </a:accent4>
        <a:accent5>
          <a:srgbClr val="ACC6DC"/>
        </a:accent5>
        <a:accent6>
          <a:srgbClr val="173472"/>
        </a:accent6>
        <a:hlink>
          <a:srgbClr val="4EA7A3"/>
        </a:hlink>
        <a:folHlink>
          <a:srgbClr val="3A5C76"/>
        </a:folHlink>
      </a:clrScheme>
      <a:clrMap bg1="lt1" tx1="dk1" bg2="lt2" tx2="dk2" accent1="accent1" accent2="accent2" accent3="accent3" accent4="accent4" accent5="accent5" accent6="accent6" hlink="hlink" folHlink="folHlink"/>
    </a:extraClrScheme>
    <a:extraClrScheme>
      <a:clrScheme name="1_blank 15">
        <a:dk1>
          <a:srgbClr val="787878"/>
        </a:dk1>
        <a:lt1>
          <a:srgbClr val="FFFFFF"/>
        </a:lt1>
        <a:dk2>
          <a:srgbClr val="FFFFFF"/>
        </a:dk2>
        <a:lt2>
          <a:srgbClr val="738F35"/>
        </a:lt2>
        <a:accent1>
          <a:srgbClr val="2A8FC0"/>
        </a:accent1>
        <a:accent2>
          <a:srgbClr val="1B3A7F"/>
        </a:accent2>
        <a:accent3>
          <a:srgbClr val="FFFFFF"/>
        </a:accent3>
        <a:accent4>
          <a:srgbClr val="656565"/>
        </a:accent4>
        <a:accent5>
          <a:srgbClr val="ACC6DC"/>
        </a:accent5>
        <a:accent6>
          <a:srgbClr val="173472"/>
        </a:accent6>
        <a:hlink>
          <a:srgbClr val="4EA7A3"/>
        </a:hlink>
        <a:folHlink>
          <a:srgbClr val="3A5C76"/>
        </a:folHlink>
      </a:clrScheme>
      <a:clrMap bg1="lt1" tx1="dk1" bg2="lt2" tx2="dk2" accent1="accent1" accent2="accent2" accent3="accent3" accent4="accent4" accent5="accent5" accent6="accent6" hlink="hlink" folHlink="folHlink"/>
    </a:extraClrScheme>
    <a:extraClrScheme>
      <a:clrScheme name="1_blank 16">
        <a:dk1>
          <a:srgbClr val="5F5F5F"/>
        </a:dk1>
        <a:lt1>
          <a:srgbClr val="FFFFFF"/>
        </a:lt1>
        <a:dk2>
          <a:srgbClr val="FFFFFF"/>
        </a:dk2>
        <a:lt2>
          <a:srgbClr val="738F35"/>
        </a:lt2>
        <a:accent1>
          <a:srgbClr val="2A8FC0"/>
        </a:accent1>
        <a:accent2>
          <a:srgbClr val="1B3A7F"/>
        </a:accent2>
        <a:accent3>
          <a:srgbClr val="FFFFFF"/>
        </a:accent3>
        <a:accent4>
          <a:srgbClr val="505050"/>
        </a:accent4>
        <a:accent5>
          <a:srgbClr val="ACC6DC"/>
        </a:accent5>
        <a:accent6>
          <a:srgbClr val="173472"/>
        </a:accent6>
        <a:hlink>
          <a:srgbClr val="4EA7A3"/>
        </a:hlink>
        <a:folHlink>
          <a:srgbClr val="3A5C7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dlc_DocId xmlns="4b69b011-4e77-4b3a-8c2b-f6624289329b">ZT4SF2JTMXZ6-56417074-147</_dlc_DocId>
    <_dlc_DocIdUrl xmlns="4b69b011-4e77-4b3a-8c2b-f6624289329b">
      <Url>https://manh1.sharepoint.com/sites/pso/PSOAmericas/scale/_layouts/15/DocIdRedir.aspx?ID=ZT4SF2JTMXZ6-56417074-147</Url>
      <Description>ZT4SF2JTMXZ6-56417074-147</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66C0BC3539F4444AF787BF16AF18D87" ma:contentTypeVersion="346" ma:contentTypeDescription="Create a new document." ma:contentTypeScope="" ma:versionID="15e7fd65664814b05fb268218e72977c">
  <xsd:schema xmlns:xsd="http://www.w3.org/2001/XMLSchema" xmlns:xs="http://www.w3.org/2001/XMLSchema" xmlns:p="http://schemas.microsoft.com/office/2006/metadata/properties" xmlns:ns2="4b69b011-4e77-4b3a-8c2b-f6624289329b" xmlns:ns3="62e6ae10-147a-424d-9ce3-9be34670e895" xmlns:ns4="377919fc-651c-46ad-811f-0a8efa4fe12c" targetNamespace="http://schemas.microsoft.com/office/2006/metadata/properties" ma:root="true" ma:fieldsID="31857dc6ddc9d6059a47a0b2e684692e" ns2:_="" ns3:_="" ns4:_="">
    <xsd:import namespace="4b69b011-4e77-4b3a-8c2b-f6624289329b"/>
    <xsd:import namespace="62e6ae10-147a-424d-9ce3-9be34670e895"/>
    <xsd:import namespace="377919fc-651c-46ad-811f-0a8efa4fe12c"/>
    <xsd:element name="properties">
      <xsd:complexType>
        <xsd:sequence>
          <xsd:element name="documentManagement">
            <xsd:complexType>
              <xsd:all>
                <xsd:element ref="ns2:_dlc_DocId" minOccurs="0"/>
                <xsd:element ref="ns2:_dlc_DocIdUrl" minOccurs="0"/>
                <xsd:element ref="ns2:_dlc_DocIdPersistId" minOccurs="0"/>
                <xsd:element ref="ns3:SharedWithUsers" minOccurs="0"/>
                <xsd:element ref="ns3:SharedWithDetails" minOccurs="0"/>
                <xsd:element ref="ns4:MediaServiceMetadata" minOccurs="0"/>
                <xsd:element ref="ns4:MediaServiceFastMetadata" minOccurs="0"/>
                <xsd:element ref="ns4:MediaServiceDateTaken" minOccurs="0"/>
                <xsd:element ref="ns4:MediaLengthInSeconds" minOccurs="0"/>
                <xsd:element ref="ns4:MediaServiceObjectDetectorVersions" minOccurs="0"/>
                <xsd:element ref="ns4:MediaServiceGenerationTime" minOccurs="0"/>
                <xsd:element ref="ns4:MediaServiceEventHashCode"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69b011-4e77-4b3a-8c2b-f6624289329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62e6ae10-147a-424d-9ce3-9be34670e895"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77919fc-651c-46ad-811f-0a8efa4fe12c"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B589C690-7BDE-44E9-9A1F-781D8012BF1B}">
  <ds:schemaRefs>
    <ds:schemaRef ds:uri="http://schemas.microsoft.com/sharepoint/v3/contenttype/forms"/>
  </ds:schemaRefs>
</ds:datastoreItem>
</file>

<file path=customXml/itemProps2.xml><?xml version="1.0" encoding="utf-8"?>
<ds:datastoreItem xmlns:ds="http://schemas.openxmlformats.org/officeDocument/2006/customXml" ds:itemID="{D4731307-7D88-445C-84AC-28675444301B}">
  <ds:schemaRefs>
    <ds:schemaRef ds:uri="62e6ae10-147a-424d-9ce3-9be34670e895"/>
    <ds:schemaRef ds:uri="http://schemas.openxmlformats.org/package/2006/metadata/core-properties"/>
    <ds:schemaRef ds:uri="377919fc-651c-46ad-811f-0a8efa4fe12c"/>
    <ds:schemaRef ds:uri="http://purl.org/dc/terms/"/>
    <ds:schemaRef ds:uri="http://schemas.microsoft.com/office/2006/metadata/properties"/>
    <ds:schemaRef ds:uri="4b69b011-4e77-4b3a-8c2b-f6624289329b"/>
    <ds:schemaRef ds:uri="http://schemas.microsoft.com/office/2006/documentManagement/types"/>
    <ds:schemaRef ds:uri="http://purl.org/dc/elements/1.1/"/>
    <ds:schemaRef ds:uri="http://purl.org/dc/dcmitype/"/>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84FD2C27-23AD-4F4C-BF31-4C3A3AE367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69b011-4e77-4b3a-8c2b-f6624289329b"/>
    <ds:schemaRef ds:uri="62e6ae10-147a-424d-9ce3-9be34670e895"/>
    <ds:schemaRef ds:uri="377919fc-651c-46ad-811f-0a8efa4fe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62F480C9-10C2-4CED-8D52-007FBD68566E}">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1723</Words>
  <Application>Microsoft Office PowerPoint</Application>
  <PresentationFormat>On-screen Show (4:3)</PresentationFormat>
  <Paragraphs>159</Paragraphs>
  <Slides>45</Slides>
  <Notes>7</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0" baseType="lpstr">
      <vt:lpstr>Arial</vt:lpstr>
      <vt:lpstr>Calibri</vt:lpstr>
      <vt:lpstr>Helvetica Neue</vt:lpstr>
      <vt:lpstr>blank</vt:lpstr>
      <vt:lpstr>think-cell Slide</vt:lpstr>
      <vt:lpstr>Label Generation and Zebra Programming Language (ZPL) for Manhattan SCALE™</vt:lpstr>
      <vt:lpstr>Slide Contents</vt:lpstr>
      <vt:lpstr>Custom Label Generation with SCALE 2021</vt:lpstr>
      <vt:lpstr>PowerPoint Presentation</vt:lpstr>
      <vt:lpstr>Document Type Configuration </vt:lpstr>
      <vt:lpstr>Document Routing Configuration </vt:lpstr>
      <vt:lpstr>Label Generation Requirements</vt:lpstr>
      <vt:lpstr>Label Types</vt:lpstr>
      <vt:lpstr>Vendor Label</vt:lpstr>
      <vt:lpstr>Shipping Label</vt:lpstr>
      <vt:lpstr>Container Contents Label</vt:lpstr>
      <vt:lpstr>Break Label</vt:lpstr>
      <vt:lpstr>Receipt Container Label</vt:lpstr>
      <vt:lpstr>Stored Procedure Add-Ins</vt:lpstr>
      <vt:lpstr>Shipment Detail</vt:lpstr>
      <vt:lpstr>Container Contents Header</vt:lpstr>
      <vt:lpstr>Adding a vendor label file to the system</vt:lpstr>
      <vt:lpstr>Navigate to printing within the system</vt:lpstr>
      <vt:lpstr>Update the file with custom ZPL</vt:lpstr>
      <vt:lpstr>Zebra Programming Language (ZPL)</vt:lpstr>
      <vt:lpstr>What Is ZPL?</vt:lpstr>
      <vt:lpstr>ZPL Command Basics</vt:lpstr>
      <vt:lpstr>Other Commands</vt:lpstr>
      <vt:lpstr>Other Commands</vt:lpstr>
      <vt:lpstr>Example 1 Vendor Label: Font Size, Field Positions, Data Fields</vt:lpstr>
      <vt:lpstr>Example 1 Vendor Label: Increase Font Size  </vt:lpstr>
      <vt:lpstr>Example 1 Vendor Label: Center Barcode  </vt:lpstr>
      <vt:lpstr>Example 1 Vendor Label: Add Data Field  </vt:lpstr>
      <vt:lpstr>Example 1: Before and After</vt:lpstr>
      <vt:lpstr>SQL in ZPL</vt:lpstr>
      <vt:lpstr>Case Statement Examples</vt:lpstr>
      <vt:lpstr>PowerPoint Presentation</vt:lpstr>
      <vt:lpstr>Client Case 1: Dish Break Label and Container Contents Label</vt:lpstr>
      <vt:lpstr>Client Case 1: Dish Label Master Criteria</vt:lpstr>
      <vt:lpstr>Client Case 1: Dish Break Label Stored Procedure</vt:lpstr>
      <vt:lpstr>Client Case 1: Dish Break Label ZPL</vt:lpstr>
      <vt:lpstr>Client Case 1: Dish Break Label Example</vt:lpstr>
      <vt:lpstr>Client Case 1: Dish Container Contents Label ZPL</vt:lpstr>
      <vt:lpstr>Client Case 1: Dish Container Contents Label Example</vt:lpstr>
      <vt:lpstr>Client Case 2: Keeco LL Bean Vendor Label</vt:lpstr>
      <vt:lpstr>Client Case 2: Keeco LL Bean Vendor Label</vt:lpstr>
      <vt:lpstr>Client Case 3: Dish Customer Returns Label</vt:lpstr>
      <vt:lpstr>Client Case 3: Dish Customer Returns Label</vt:lpstr>
      <vt:lpstr>Resources for Editing ZPL Labels </vt:lpstr>
      <vt:lpstr>Summary</vt:lpstr>
    </vt:vector>
  </TitlesOfParts>
  <Company>Manhattan Associates,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Danielle Cox</dc:creator>
  <cp:lastModifiedBy>Ed Lopez</cp:lastModifiedBy>
  <cp:revision>3</cp:revision>
  <cp:lastPrinted>2009-07-29T15:51:23Z</cp:lastPrinted>
  <dcterms:created xsi:type="dcterms:W3CDTF">2013-12-27T20:25:25Z</dcterms:created>
  <dcterms:modified xsi:type="dcterms:W3CDTF">2026-03-25T13:49:41Z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0x010100066C0BC3539F4444AF787BF16AF18D87</vt:lpwstr>
  </property>
  <property fmtid="{D5CDD505-2E9C-101B-9397-08002B2CF9AE}" pid="3" name="_dlc_DocIdItemGuid">
    <vt:lpwstr>8a1bae8a-7a6b-461d-b332-68e5d0e932a9</vt:lpwstr>
  </property>
  <property fmtid="{D5CDD505-2E9C-101B-9397-08002B2CF9AE}" pid="4" name="MSIP_Label_e044e15f-f7a6-4542-a3ad-1fe1916a0503_Enabled">
    <vt:lpwstr>true</vt:lpwstr>
  </property>
  <property fmtid="{D5CDD505-2E9C-101B-9397-08002B2CF9AE}" pid="5" name="MSIP_Label_e044e15f-f7a6-4542-a3ad-1fe1916a0503_SetDate">
    <vt:lpwstr>2023-07-06T16:03:42Z</vt:lpwstr>
  </property>
  <property fmtid="{D5CDD505-2E9C-101B-9397-08002B2CF9AE}" pid="6" name="MSIP_Label_e044e15f-f7a6-4542-a3ad-1fe1916a0503_Method">
    <vt:lpwstr>Standard</vt:lpwstr>
  </property>
  <property fmtid="{D5CDD505-2E9C-101B-9397-08002B2CF9AE}" pid="7" name="MSIP_Label_e044e15f-f7a6-4542-a3ad-1fe1916a0503_Name">
    <vt:lpwstr>Internal</vt:lpwstr>
  </property>
  <property fmtid="{D5CDD505-2E9C-101B-9397-08002B2CF9AE}" pid="8" name="MSIP_Label_e044e15f-f7a6-4542-a3ad-1fe1916a0503_SiteId">
    <vt:lpwstr>1b212e38-787d-48cb-83bb-5e4302f225e4</vt:lpwstr>
  </property>
  <property fmtid="{D5CDD505-2E9C-101B-9397-08002B2CF9AE}" pid="9" name="MSIP_Label_e044e15f-f7a6-4542-a3ad-1fe1916a0503_ActionId">
    <vt:lpwstr>6bbb3b5e-64ee-461a-a57c-5d1d0ca06ec4</vt:lpwstr>
  </property>
  <property fmtid="{D5CDD505-2E9C-101B-9397-08002B2CF9AE}" pid="10" name="MSIP_Label_e044e15f-f7a6-4542-a3ad-1fe1916a0503_ContentBits">
    <vt:lpwstr>0</vt:lpwstr>
  </property>
</Properties>
</file>